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72" r:id="rId14"/>
    <p:sldId id="269" r:id="rId15"/>
    <p:sldId id="270" r:id="rId16"/>
    <p:sldId id="273" r:id="rId17"/>
    <p:sldId id="271"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0000"/>
    <a:srgbClr val="008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426" autoAdjust="0"/>
    <p:restoredTop sz="94660"/>
  </p:normalViewPr>
  <p:slideViewPr>
    <p:cSldViewPr snapToGrid="0">
      <p:cViewPr varScale="1">
        <p:scale>
          <a:sx n="82" d="100"/>
          <a:sy n="82" d="100"/>
        </p:scale>
        <p:origin x="111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2C6898A1-1F09-42BE-A0B1-FFC9D47939AB}" type="datetimeFigureOut">
              <a:rPr lang="en-IN" smtClean="0"/>
              <a:t>10-12-2025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954DD4-E840-47C9-8266-3A1DF580E0CE}"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C6898A1-1F09-42BE-A0B1-FFC9D47939AB}" type="datetimeFigureOut">
              <a:rPr lang="en-IN" smtClean="0"/>
              <a:t>10-12-2025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954DD4-E840-47C9-8266-3A1DF580E0CE}"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C6898A1-1F09-42BE-A0B1-FFC9D47939AB}" type="datetimeFigureOut">
              <a:rPr lang="en-IN" smtClean="0"/>
              <a:t>10-12-2025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954DD4-E840-47C9-8266-3A1DF580E0CE}"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2C6898A1-1F09-42BE-A0B1-FFC9D47939AB}" type="datetimeFigureOut">
              <a:rPr lang="en-IN" smtClean="0"/>
              <a:t>10-12-2025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954DD4-E840-47C9-8266-3A1DF580E0CE}"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2C6898A1-1F09-42BE-A0B1-FFC9D47939AB}" type="datetimeFigureOut">
              <a:rPr lang="en-IN" smtClean="0"/>
              <a:t>10-12-2025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8954DD4-E840-47C9-8266-3A1DF580E0CE}"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2C6898A1-1F09-42BE-A0B1-FFC9D47939AB}" type="datetimeFigureOut">
              <a:rPr lang="en-IN" smtClean="0"/>
              <a:t>10-12-2025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8954DD4-E840-47C9-8266-3A1DF580E0CE}"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6898A1-1F09-42BE-A0B1-FFC9D47939AB}" type="datetimeFigureOut">
              <a:rPr lang="en-IN" smtClean="0"/>
              <a:t>10-12-2025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8954DD4-E840-47C9-8266-3A1DF580E0CE}"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C6898A1-1F09-42BE-A0B1-FFC9D47939AB}" type="datetimeFigureOut">
              <a:rPr lang="en-IN" smtClean="0"/>
              <a:t>10-12-2025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954DD4-E840-47C9-8266-3A1DF580E0CE}"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C6898A1-1F09-42BE-A0B1-FFC9D47939AB}" type="datetimeFigureOut">
              <a:rPr lang="en-IN" smtClean="0"/>
              <a:t>10-12-2025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954DD4-E840-47C9-8266-3A1DF580E0CE}"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C6898A1-1F09-42BE-A0B1-FFC9D47939AB}" type="datetimeFigureOut">
              <a:rPr lang="en-IN" smtClean="0"/>
              <a:t>10-12-2025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954DD4-E840-47C9-8266-3A1DF580E0CE}"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C6898A1-1F09-42BE-A0B1-FFC9D47939AB}" type="datetimeFigureOut">
              <a:rPr lang="en-IN" smtClean="0"/>
              <a:t>10-12-2025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954DD4-E840-47C9-8266-3A1DF580E0CE}"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6898A1-1F09-42BE-A0B1-FFC9D47939AB}" type="datetimeFigureOut">
              <a:rPr lang="en-IN" smtClean="0"/>
              <a:t>10-12-2025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954DD4-E840-47C9-8266-3A1DF580E0CE}"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hyperlink" Target="mailto:yamuna.facevitap@gmail.com" TargetMode="External"/><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hyperlink" Target="mailto:yamuna.facevitap@gmail.com" TargetMode="External"/><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hyperlink" Target="mailto:sanjay.facevitap@gmail.com"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mailto:yamuna.facevitap@gmail.com" TargetMode="External"/><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0" y="2587822"/>
            <a:ext cx="12192000" cy="1655477"/>
          </a:xfrm>
          <a:prstGeom prst="rect">
            <a:avLst/>
          </a:prstGeom>
        </p:spPr>
        <p:style>
          <a:lnRef idx="0">
            <a:schemeClr val="accent3"/>
          </a:lnRef>
          <a:fillRef idx="3">
            <a:schemeClr val="accent3"/>
          </a:fillRef>
          <a:effectRef idx="3">
            <a:schemeClr val="accent3"/>
          </a:effectRef>
          <a:fontRef idx="minor">
            <a:schemeClr val="lt1"/>
          </a:fontRef>
        </p:style>
        <p:txBody>
          <a:bodyPr rtlCol="0" anchor="ctr"/>
          <a:lstStyle/>
          <a:p>
            <a:endParaRPr lang="en-IN" b="1" dirty="0">
              <a:solidFill>
                <a:srgbClr val="800000"/>
              </a:solidFill>
              <a:latin typeface="Times New Roman" panose="02020603050405020304" pitchFamily="18" charset="0"/>
              <a:cs typeface="Times New Roman" panose="02020603050405020304" pitchFamily="18" charset="0"/>
            </a:endParaRPr>
          </a:p>
        </p:txBody>
      </p:sp>
      <p:sp>
        <p:nvSpPr>
          <p:cNvPr id="4" name="TextBox 3"/>
          <p:cNvSpPr txBox="1"/>
          <p:nvPr/>
        </p:nvSpPr>
        <p:spPr>
          <a:xfrm>
            <a:off x="-472084" y="2587822"/>
            <a:ext cx="12152731" cy="1384995"/>
          </a:xfrm>
          <a:prstGeom prst="rect">
            <a:avLst/>
          </a:prstGeom>
          <a:noFill/>
        </p:spPr>
        <p:txBody>
          <a:bodyPr wrap="square" rtlCol="0">
            <a:spAutoFit/>
          </a:bodyPr>
          <a:lstStyle/>
          <a:p>
            <a:pPr algn="ctr"/>
            <a:r>
              <a:rPr lang="en-IN" sz="2400" b="1" dirty="0">
                <a:solidFill>
                  <a:srgbClr val="800000"/>
                </a:solidFill>
                <a:latin typeface="Times New Roman" panose="02020603050405020304" pitchFamily="18" charset="0"/>
                <a:cs typeface="Times New Roman" panose="02020603050405020304" pitchFamily="18" charset="0"/>
              </a:rPr>
              <a:t>Introduction to</a:t>
            </a:r>
          </a:p>
          <a:p>
            <a:pPr algn="ctr"/>
            <a:endParaRPr lang="en-IN" sz="2400" b="1" dirty="0">
              <a:solidFill>
                <a:srgbClr val="800000"/>
              </a:solidFill>
              <a:latin typeface="Times New Roman" panose="02020603050405020304" pitchFamily="18" charset="0"/>
              <a:cs typeface="Times New Roman" panose="02020603050405020304" pitchFamily="18" charset="0"/>
            </a:endParaRPr>
          </a:p>
          <a:p>
            <a:pPr algn="ctr"/>
            <a:r>
              <a:rPr lang="en-IN" sz="3600" b="1" dirty="0">
                <a:solidFill>
                  <a:srgbClr val="800000"/>
                </a:solidFill>
                <a:latin typeface="Times New Roman" panose="02020603050405020304" pitchFamily="18" charset="0"/>
                <a:cs typeface="Times New Roman" panose="02020603050405020304" pitchFamily="18" charset="0"/>
              </a:rPr>
              <a:t>STS4006: Advanced competitive coding II</a:t>
            </a:r>
            <a:endParaRPr lang="en-IN" sz="2400" b="1" dirty="0">
              <a:solidFill>
                <a:srgbClr val="800000"/>
              </a:solidFill>
              <a:latin typeface="Times New Roman" panose="02020603050405020304" pitchFamily="18" charset="0"/>
              <a:cs typeface="Times New Roman" panose="02020603050405020304" pitchFamily="18" charset="0"/>
            </a:endParaRPr>
          </a:p>
        </p:txBody>
      </p:sp>
      <p:sp>
        <p:nvSpPr>
          <p:cNvPr id="5" name="TextBox 4"/>
          <p:cNvSpPr txBox="1"/>
          <p:nvPr/>
        </p:nvSpPr>
        <p:spPr>
          <a:xfrm>
            <a:off x="19450" y="5444330"/>
            <a:ext cx="12152731" cy="830997"/>
          </a:xfrm>
          <a:prstGeom prst="rect">
            <a:avLst/>
          </a:prstGeom>
          <a:noFill/>
        </p:spPr>
        <p:txBody>
          <a:bodyPr wrap="square" rtlCol="0">
            <a:spAutoFit/>
          </a:bodyPr>
          <a:lstStyle/>
          <a:p>
            <a:pPr algn="ctr"/>
            <a:r>
              <a:rPr lang="en-IN" sz="2400" b="1" dirty="0">
                <a:solidFill>
                  <a:srgbClr val="800000"/>
                </a:solidFill>
                <a:latin typeface="Times New Roman" panose="02020603050405020304" pitchFamily="18" charset="0"/>
                <a:cs typeface="Times New Roman" panose="02020603050405020304" pitchFamily="18" charset="0"/>
              </a:rPr>
              <a:t>Career Development Centre (CDC)</a:t>
            </a:r>
          </a:p>
          <a:p>
            <a:pPr algn="ctr"/>
            <a:r>
              <a:rPr lang="en-IN" sz="2400" b="1" dirty="0">
                <a:solidFill>
                  <a:srgbClr val="800000"/>
                </a:solidFill>
                <a:latin typeface="Times New Roman" panose="02020603050405020304" pitchFamily="18" charset="0"/>
                <a:cs typeface="Times New Roman" panose="02020603050405020304" pitchFamily="18" charset="0"/>
              </a:rPr>
              <a:t>VIT-AP University</a:t>
            </a: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38447" y="250546"/>
            <a:ext cx="2057680" cy="798924"/>
          </a:xfrm>
          <a:prstGeom prst="rect">
            <a:avLst/>
          </a:prstGeom>
        </p:spPr>
      </p:pic>
      <p:pic>
        <p:nvPicPr>
          <p:cNvPr id="1026" name="Picture 2">
            <a:extLst>
              <a:ext uri="{FF2B5EF4-FFF2-40B4-BE49-F238E27FC236}">
                <a16:creationId xmlns:a16="http://schemas.microsoft.com/office/drawing/2014/main" id="{C2D19164-7681-B090-18CE-B7ED284AA8C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8235" y="264218"/>
            <a:ext cx="1905000" cy="2381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114143" y="5672672"/>
            <a:ext cx="2057680" cy="646331"/>
          </a:xfrm>
          <a:prstGeom prst="rect">
            <a:avLst/>
          </a:prstGeom>
          <a:noFill/>
          <a:ln>
            <a:solidFill>
              <a:srgbClr val="C00000"/>
            </a:solidFill>
          </a:ln>
        </p:spPr>
        <p:txBody>
          <a:bodyPr wrap="square" rtlCol="0">
            <a:spAutoFit/>
          </a:bodyPr>
          <a:lstStyle/>
          <a:p>
            <a:endParaRPr lang="en-IN" dirty="0"/>
          </a:p>
          <a:p>
            <a:endParaRPr lang="en-IN" dirty="0"/>
          </a:p>
        </p:txBody>
      </p:sp>
      <p:sp>
        <p:nvSpPr>
          <p:cNvPr id="3" name="Rectangle 2"/>
          <p:cNvSpPr/>
          <p:nvPr/>
        </p:nvSpPr>
        <p:spPr>
          <a:xfrm>
            <a:off x="0" y="0"/>
            <a:ext cx="12192000" cy="705224"/>
          </a:xfrm>
          <a:prstGeom prst="rect">
            <a:avLst/>
          </a:prstGeom>
        </p:spPr>
        <p:style>
          <a:lnRef idx="0">
            <a:schemeClr val="accent3"/>
          </a:lnRef>
          <a:fillRef idx="3">
            <a:schemeClr val="accent3"/>
          </a:fillRef>
          <a:effectRef idx="3">
            <a:schemeClr val="accent3"/>
          </a:effectRef>
          <a:fontRef idx="minor">
            <a:schemeClr val="lt1"/>
          </a:fontRef>
        </p:style>
        <p:txBody>
          <a:bodyPr rtlCol="0" anchor="ctr"/>
          <a:lstStyle/>
          <a:p>
            <a:r>
              <a:rPr lang="en-IN" sz="2800" b="1" dirty="0">
                <a:solidFill>
                  <a:srgbClr val="800000"/>
                </a:solidFill>
                <a:latin typeface="Times New Roman" panose="02020603050405020304" pitchFamily="18" charset="0"/>
                <a:cs typeface="Times New Roman" panose="02020603050405020304" pitchFamily="18" charset="0"/>
              </a:rPr>
              <a:t>Course Details</a:t>
            </a:r>
            <a:endParaRPr lang="en-IN" b="1" dirty="0">
              <a:solidFill>
                <a:srgbClr val="800000"/>
              </a:solidFill>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44841" y="-18389"/>
            <a:ext cx="2057680" cy="798924"/>
          </a:xfrm>
          <a:prstGeom prst="rect">
            <a:avLst/>
          </a:prstGeom>
        </p:spPr>
      </p:pic>
      <p:graphicFrame>
        <p:nvGraphicFramePr>
          <p:cNvPr id="9" name="Table 8"/>
          <p:cNvGraphicFramePr>
            <a:graphicFrameLocks noGrp="1"/>
          </p:cNvGraphicFramePr>
          <p:nvPr>
            <p:extLst>
              <p:ext uri="{D42A27DB-BD31-4B8C-83A1-F6EECF244321}">
                <p14:modId xmlns:p14="http://schemas.microsoft.com/office/powerpoint/2010/main" val="2586438447"/>
              </p:ext>
            </p:extLst>
          </p:nvPr>
        </p:nvGraphicFramePr>
        <p:xfrm>
          <a:off x="179294" y="982640"/>
          <a:ext cx="10793506" cy="4572000"/>
        </p:xfrm>
        <a:graphic>
          <a:graphicData uri="http://schemas.openxmlformats.org/drawingml/2006/table">
            <a:tbl>
              <a:tblPr firstRow="1" bandRow="1">
                <a:tableStyleId>{5C22544A-7EE6-4342-B048-85BDC9FD1C3A}</a:tableStyleId>
              </a:tblPr>
              <a:tblGrid>
                <a:gridCol w="3307844">
                  <a:extLst>
                    <a:ext uri="{9D8B030D-6E8A-4147-A177-3AD203B41FA5}">
                      <a16:colId xmlns:a16="http://schemas.microsoft.com/office/drawing/2014/main" val="20000"/>
                    </a:ext>
                  </a:extLst>
                </a:gridCol>
                <a:gridCol w="7485662">
                  <a:extLst>
                    <a:ext uri="{9D8B030D-6E8A-4147-A177-3AD203B41FA5}">
                      <a16:colId xmlns:a16="http://schemas.microsoft.com/office/drawing/2014/main" val="20001"/>
                    </a:ext>
                  </a:extLst>
                </a:gridCol>
              </a:tblGrid>
              <a:tr h="370840">
                <a:tc>
                  <a:txBody>
                    <a:bodyPr/>
                    <a:lstStyle/>
                    <a:p>
                      <a:endParaRPr lang="en-IN" b="0" dirty="0">
                        <a:solidFill>
                          <a:schemeClr val="tx1">
                            <a:lumMod val="95000"/>
                            <a:lumOff val="5000"/>
                          </a:schemeClr>
                        </a:solidFill>
                        <a:latin typeface="Times New Roman" panose="02020603050405020304" pitchFamily="18" charset="0"/>
                        <a:cs typeface="Times New Roman" panose="02020603050405020304" pitchFamily="18" charset="0"/>
                      </a:endParaRPr>
                    </a:p>
                    <a:p>
                      <a:r>
                        <a:rPr lang="en-IN" b="0" dirty="0">
                          <a:solidFill>
                            <a:schemeClr val="tx1">
                              <a:lumMod val="95000"/>
                              <a:lumOff val="5000"/>
                            </a:schemeClr>
                          </a:solidFill>
                          <a:latin typeface="Times New Roman" panose="02020603050405020304" pitchFamily="18" charset="0"/>
                          <a:cs typeface="Times New Roman" panose="02020603050405020304" pitchFamily="18" charset="0"/>
                        </a:rPr>
                        <a:t>Course Code</a:t>
                      </a:r>
                    </a:p>
                    <a:p>
                      <a:endParaRPr lang="en-IN" b="0"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a:p>
                      <a:r>
                        <a:rPr lang="en-IN" b="0" dirty="0">
                          <a:solidFill>
                            <a:schemeClr val="tx1">
                              <a:lumMod val="95000"/>
                              <a:lumOff val="5000"/>
                            </a:schemeClr>
                          </a:solidFill>
                          <a:latin typeface="Times New Roman" panose="02020603050405020304" pitchFamily="18" charset="0"/>
                          <a:cs typeface="Times New Roman" panose="02020603050405020304" pitchFamily="18" charset="0"/>
                        </a:rPr>
                        <a:t>STS4006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70840">
                <a:tc>
                  <a:txBody>
                    <a:bodyPr/>
                    <a:lstStyle/>
                    <a:p>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a:p>
                      <a:r>
                        <a:rPr lang="en-IN" dirty="0">
                          <a:solidFill>
                            <a:schemeClr val="tx1">
                              <a:lumMod val="95000"/>
                              <a:lumOff val="5000"/>
                            </a:schemeClr>
                          </a:solidFill>
                          <a:latin typeface="Times New Roman" panose="02020603050405020304" pitchFamily="18" charset="0"/>
                          <a:cs typeface="Times New Roman" panose="02020603050405020304" pitchFamily="18" charset="0"/>
                        </a:rPr>
                        <a:t>Course Title</a:t>
                      </a:r>
                    </a:p>
                    <a:p>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a:p>
                      <a:r>
                        <a:rPr lang="en-IN" dirty="0">
                          <a:solidFill>
                            <a:schemeClr val="tx1">
                              <a:lumMod val="95000"/>
                              <a:lumOff val="5000"/>
                            </a:schemeClr>
                          </a:solidFill>
                          <a:latin typeface="Times New Roman" panose="02020603050405020304" pitchFamily="18" charset="0"/>
                          <a:cs typeface="Times New Roman" panose="02020603050405020304" pitchFamily="18" charset="0"/>
                        </a:rPr>
                        <a:t>Advanced Competitive Coding II</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0840">
                <a:tc>
                  <a:txBody>
                    <a:bodyPr/>
                    <a:lstStyle/>
                    <a:p>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a:p>
                      <a:r>
                        <a:rPr lang="en-IN" dirty="0">
                          <a:solidFill>
                            <a:schemeClr val="tx1">
                              <a:lumMod val="95000"/>
                              <a:lumOff val="5000"/>
                            </a:schemeClr>
                          </a:solidFill>
                          <a:latin typeface="Times New Roman" panose="02020603050405020304" pitchFamily="18" charset="0"/>
                          <a:cs typeface="Times New Roman" panose="02020603050405020304" pitchFamily="18" charset="0"/>
                        </a:rPr>
                        <a:t>Credits Assigned</a:t>
                      </a:r>
                    </a:p>
                    <a:p>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dirty="0">
                          <a:solidFill>
                            <a:schemeClr val="tx1">
                              <a:lumMod val="95000"/>
                              <a:lumOff val="5000"/>
                            </a:schemeClr>
                          </a:solidFill>
                          <a:latin typeface="Times New Roman" panose="02020603050405020304" pitchFamily="18" charset="0"/>
                          <a:cs typeface="Times New Roman" panose="02020603050405020304" pitchFamily="18" charset="0"/>
                        </a:rPr>
                        <a:t>  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70840">
                <a:tc>
                  <a:txBody>
                    <a:bodyPr/>
                    <a:lstStyle/>
                    <a:p>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a:p>
                      <a:r>
                        <a:rPr lang="en-IN" dirty="0">
                          <a:solidFill>
                            <a:schemeClr val="tx1">
                              <a:lumMod val="95000"/>
                              <a:lumOff val="5000"/>
                            </a:schemeClr>
                          </a:solidFill>
                          <a:latin typeface="Times New Roman" panose="02020603050405020304" pitchFamily="18" charset="0"/>
                          <a:cs typeface="Times New Roman" panose="02020603050405020304" pitchFamily="18" charset="0"/>
                        </a:rPr>
                        <a:t>Pre-Requisites</a:t>
                      </a:r>
                    </a:p>
                    <a:p>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dirty="0">
                          <a:solidFill>
                            <a:schemeClr val="tx1">
                              <a:lumMod val="95000"/>
                              <a:lumOff val="5000"/>
                            </a:schemeClr>
                          </a:solidFill>
                          <a:latin typeface="Times New Roman" panose="02020603050405020304" pitchFamily="18" charset="0"/>
                          <a:cs typeface="Times New Roman" panose="02020603050405020304" pitchFamily="18" charset="0"/>
                        </a:rPr>
                        <a:t>STS3007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r>
                        <a:rPr lang="en-IN" dirty="0">
                          <a:solidFill>
                            <a:schemeClr val="tx1">
                              <a:lumMod val="95000"/>
                              <a:lumOff val="5000"/>
                            </a:schemeClr>
                          </a:solidFill>
                          <a:latin typeface="Times New Roman" panose="02020603050405020304" pitchFamily="18" charset="0"/>
                          <a:cs typeface="Times New Roman" panose="02020603050405020304" pitchFamily="18" charset="0"/>
                        </a:rPr>
                        <a:t>Anti-Requisites</a:t>
                      </a:r>
                    </a:p>
                    <a:p>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a:p>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p:pic>
        <p:nvPicPr>
          <p:cNvPr id="4" name="Picture 2">
            <a:extLst>
              <a:ext uri="{FF2B5EF4-FFF2-40B4-BE49-F238E27FC236}">
                <a16:creationId xmlns:a16="http://schemas.microsoft.com/office/drawing/2014/main" id="{CB7D88EC-75FC-D0F4-71C6-2EEA33B1B41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90483" y="5887002"/>
            <a:ext cx="1905000" cy="2381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374406" y="6196746"/>
            <a:ext cx="1730188" cy="369332"/>
          </a:xfrm>
          <a:prstGeom prst="rect">
            <a:avLst/>
          </a:prstGeom>
          <a:noFill/>
          <a:ln>
            <a:solidFill>
              <a:srgbClr val="C00000"/>
            </a:solidFill>
          </a:ln>
        </p:spPr>
        <p:txBody>
          <a:bodyPr wrap="square" rtlCol="0">
            <a:spAutoFit/>
          </a:bodyPr>
          <a:lstStyle/>
          <a:p>
            <a:endParaRPr lang="en-IN" dirty="0"/>
          </a:p>
        </p:txBody>
      </p:sp>
      <p:sp>
        <p:nvSpPr>
          <p:cNvPr id="3" name="Rectangle 2"/>
          <p:cNvSpPr/>
          <p:nvPr/>
        </p:nvSpPr>
        <p:spPr>
          <a:xfrm>
            <a:off x="0" y="0"/>
            <a:ext cx="12192000" cy="705224"/>
          </a:xfrm>
          <a:prstGeom prst="rect">
            <a:avLst/>
          </a:prstGeom>
        </p:spPr>
        <p:style>
          <a:lnRef idx="0">
            <a:schemeClr val="accent3"/>
          </a:lnRef>
          <a:fillRef idx="3">
            <a:schemeClr val="accent3"/>
          </a:fillRef>
          <a:effectRef idx="3">
            <a:schemeClr val="accent3"/>
          </a:effectRef>
          <a:fontRef idx="minor">
            <a:schemeClr val="lt1"/>
          </a:fontRef>
        </p:style>
        <p:txBody>
          <a:bodyPr rtlCol="0" anchor="ctr"/>
          <a:lstStyle/>
          <a:p>
            <a:r>
              <a:rPr lang="en-IN" sz="2800" b="1" dirty="0">
                <a:solidFill>
                  <a:srgbClr val="800000"/>
                </a:solidFill>
                <a:latin typeface="Times New Roman" panose="02020603050405020304" pitchFamily="18" charset="0"/>
                <a:cs typeface="Times New Roman" panose="02020603050405020304" pitchFamily="18" charset="0"/>
              </a:rPr>
              <a:t>Slot Details</a:t>
            </a:r>
            <a:endParaRPr lang="en-IN" b="1" dirty="0">
              <a:solidFill>
                <a:srgbClr val="800000"/>
              </a:solidFill>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44841" y="-18389"/>
            <a:ext cx="2057680" cy="798924"/>
          </a:xfrm>
          <a:prstGeom prst="rect">
            <a:avLst/>
          </a:prstGeom>
        </p:spPr>
      </p:pic>
      <p:graphicFrame>
        <p:nvGraphicFramePr>
          <p:cNvPr id="9" name="Table 8"/>
          <p:cNvGraphicFramePr>
            <a:graphicFrameLocks noGrp="1"/>
          </p:cNvGraphicFramePr>
          <p:nvPr>
            <p:extLst>
              <p:ext uri="{D42A27DB-BD31-4B8C-83A1-F6EECF244321}">
                <p14:modId xmlns:p14="http://schemas.microsoft.com/office/powerpoint/2010/main" val="3198504496"/>
              </p:ext>
            </p:extLst>
          </p:nvPr>
        </p:nvGraphicFramePr>
        <p:xfrm>
          <a:off x="180175" y="780535"/>
          <a:ext cx="10793506" cy="4572000"/>
        </p:xfrm>
        <a:graphic>
          <a:graphicData uri="http://schemas.openxmlformats.org/drawingml/2006/table">
            <a:tbl>
              <a:tblPr firstRow="1" bandRow="1">
                <a:tableStyleId>{5C22544A-7EE6-4342-B048-85BDC9FD1C3A}</a:tableStyleId>
              </a:tblPr>
              <a:tblGrid>
                <a:gridCol w="3307844">
                  <a:extLst>
                    <a:ext uri="{9D8B030D-6E8A-4147-A177-3AD203B41FA5}">
                      <a16:colId xmlns:a16="http://schemas.microsoft.com/office/drawing/2014/main" val="20000"/>
                    </a:ext>
                  </a:extLst>
                </a:gridCol>
                <a:gridCol w="7485662">
                  <a:extLst>
                    <a:ext uri="{9D8B030D-6E8A-4147-A177-3AD203B41FA5}">
                      <a16:colId xmlns:a16="http://schemas.microsoft.com/office/drawing/2014/main" val="20001"/>
                    </a:ext>
                  </a:extLst>
                </a:gridCol>
              </a:tblGrid>
              <a:tr h="370840">
                <a:tc>
                  <a:txBody>
                    <a:bodyPr/>
                    <a:lstStyle/>
                    <a:p>
                      <a:endParaRPr lang="en-IN" b="0" dirty="0">
                        <a:solidFill>
                          <a:schemeClr val="tx1">
                            <a:lumMod val="95000"/>
                            <a:lumOff val="5000"/>
                          </a:schemeClr>
                        </a:solidFill>
                        <a:latin typeface="Times New Roman" panose="02020603050405020304" pitchFamily="18" charset="0"/>
                        <a:cs typeface="Times New Roman" panose="02020603050405020304" pitchFamily="18" charset="0"/>
                      </a:endParaRPr>
                    </a:p>
                    <a:p>
                      <a:r>
                        <a:rPr lang="en-IN" b="0" dirty="0">
                          <a:solidFill>
                            <a:schemeClr val="tx1">
                              <a:lumMod val="95000"/>
                              <a:lumOff val="5000"/>
                            </a:schemeClr>
                          </a:solidFill>
                          <a:latin typeface="Times New Roman" panose="02020603050405020304" pitchFamily="18" charset="0"/>
                          <a:cs typeface="Times New Roman" panose="02020603050405020304" pitchFamily="18" charset="0"/>
                        </a:rPr>
                        <a:t>Class ID</a:t>
                      </a:r>
                    </a:p>
                    <a:p>
                      <a:endParaRPr lang="en-IN" b="0"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IN" b="0"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70840">
                <a:tc>
                  <a:txBody>
                    <a:bodyPr/>
                    <a:lstStyle/>
                    <a:p>
                      <a:endParaRPr lang="en-IN" b="0" dirty="0">
                        <a:solidFill>
                          <a:schemeClr val="tx1">
                            <a:lumMod val="95000"/>
                            <a:lumOff val="5000"/>
                          </a:schemeClr>
                        </a:solidFill>
                        <a:latin typeface="Times New Roman" panose="02020603050405020304" pitchFamily="18" charset="0"/>
                        <a:cs typeface="Times New Roman" panose="02020603050405020304" pitchFamily="18" charset="0"/>
                      </a:endParaRPr>
                    </a:p>
                    <a:p>
                      <a:r>
                        <a:rPr lang="en-IN" b="0" dirty="0">
                          <a:solidFill>
                            <a:schemeClr val="tx1">
                              <a:lumMod val="95000"/>
                              <a:lumOff val="5000"/>
                            </a:schemeClr>
                          </a:solidFill>
                          <a:latin typeface="Times New Roman" panose="02020603050405020304" pitchFamily="18" charset="0"/>
                          <a:cs typeface="Times New Roman" panose="02020603050405020304" pitchFamily="18" charset="0"/>
                        </a:rPr>
                        <a:t>Slot Allotted</a:t>
                      </a:r>
                    </a:p>
                    <a:p>
                      <a:endParaRPr lang="en-IN" b="0"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dirty="0">
                          <a:solidFill>
                            <a:schemeClr val="tx1">
                              <a:lumMod val="95000"/>
                              <a:lumOff val="5000"/>
                            </a:schemeClr>
                          </a:solidFill>
                          <a:latin typeface="Times New Roman" panose="02020603050405020304" pitchFamily="18" charset="0"/>
                          <a:cs typeface="Times New Roman" panose="02020603050405020304" pitchFamily="18" charset="0"/>
                        </a:rPr>
                        <a:t>3(D1,D2,A2)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0840">
                <a:tc>
                  <a:txBody>
                    <a:bodyPr/>
                    <a:lstStyle/>
                    <a:p>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a:p>
                      <a:r>
                        <a:rPr lang="en-IN" dirty="0">
                          <a:solidFill>
                            <a:schemeClr val="tx1">
                              <a:lumMod val="95000"/>
                              <a:lumOff val="5000"/>
                            </a:schemeClr>
                          </a:solidFill>
                          <a:latin typeface="Times New Roman" panose="02020603050405020304" pitchFamily="18" charset="0"/>
                          <a:cs typeface="Times New Roman" panose="02020603050405020304" pitchFamily="18" charset="0"/>
                        </a:rPr>
                        <a:t>Number of Hours / Week</a:t>
                      </a:r>
                    </a:p>
                    <a:p>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a:p>
                      <a:r>
                        <a:rPr lang="en-IN" dirty="0">
                          <a:solidFill>
                            <a:schemeClr val="tx1">
                              <a:lumMod val="95000"/>
                              <a:lumOff val="5000"/>
                            </a:schemeClr>
                          </a:solidFill>
                          <a:latin typeface="Times New Roman" panose="02020603050405020304" pitchFamily="18" charset="0"/>
                          <a:cs typeface="Times New Roman" panose="02020603050405020304" pitchFamily="18" charset="0"/>
                        </a:rPr>
                        <a:t>3 Hours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70840">
                <a:tc>
                  <a:txBody>
                    <a:bodyPr/>
                    <a:lstStyle/>
                    <a:p>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a:p>
                      <a:r>
                        <a:rPr lang="en-IN" dirty="0">
                          <a:solidFill>
                            <a:schemeClr val="tx1">
                              <a:lumMod val="95000"/>
                              <a:lumOff val="5000"/>
                            </a:schemeClr>
                          </a:solidFill>
                          <a:latin typeface="Times New Roman" panose="02020603050405020304" pitchFamily="18" charset="0"/>
                          <a:cs typeface="Times New Roman" panose="02020603050405020304" pitchFamily="18" charset="0"/>
                        </a:rPr>
                        <a:t>Timings</a:t>
                      </a:r>
                    </a:p>
                    <a:p>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a:p>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70840">
                <a:tc>
                  <a:txBody>
                    <a:bodyPr/>
                    <a:lstStyle/>
                    <a:p>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a:p>
                      <a:r>
                        <a:rPr lang="en-IN" dirty="0">
                          <a:solidFill>
                            <a:schemeClr val="tx1">
                              <a:lumMod val="95000"/>
                              <a:lumOff val="5000"/>
                            </a:schemeClr>
                          </a:solidFill>
                          <a:latin typeface="Times New Roman" panose="02020603050405020304" pitchFamily="18" charset="0"/>
                          <a:cs typeface="Times New Roman" panose="02020603050405020304" pitchFamily="18" charset="0"/>
                        </a:rPr>
                        <a:t>Total Number of Hours Required</a:t>
                      </a:r>
                    </a:p>
                    <a:p>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a:p>
                      <a:r>
                        <a:rPr lang="en-IN" dirty="0">
                          <a:solidFill>
                            <a:schemeClr val="tx1">
                              <a:lumMod val="95000"/>
                              <a:lumOff val="5000"/>
                            </a:schemeClr>
                          </a:solidFill>
                          <a:latin typeface="Times New Roman" panose="02020603050405020304" pitchFamily="18" charset="0"/>
                          <a:cs typeface="Times New Roman" panose="02020603050405020304" pitchFamily="18" charset="0"/>
                        </a:rPr>
                        <a:t>45 Hours (As Per Syllabus)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p:pic>
        <p:nvPicPr>
          <p:cNvPr id="4" name="Picture 2">
            <a:extLst>
              <a:ext uri="{FF2B5EF4-FFF2-40B4-BE49-F238E27FC236}">
                <a16:creationId xmlns:a16="http://schemas.microsoft.com/office/drawing/2014/main" id="{4D2A0FA8-2CF8-F666-A058-3CBD9EE8E78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374406" y="6262349"/>
            <a:ext cx="1905000" cy="2381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2000" cy="705224"/>
          </a:xfrm>
          <a:prstGeom prst="rect">
            <a:avLst/>
          </a:prstGeom>
        </p:spPr>
        <p:style>
          <a:lnRef idx="0">
            <a:schemeClr val="accent3"/>
          </a:lnRef>
          <a:fillRef idx="3">
            <a:schemeClr val="accent3"/>
          </a:fillRef>
          <a:effectRef idx="3">
            <a:schemeClr val="accent3"/>
          </a:effectRef>
          <a:fontRef idx="minor">
            <a:schemeClr val="lt1"/>
          </a:fontRef>
        </p:style>
        <p:txBody>
          <a:bodyPr rtlCol="0" anchor="ctr"/>
          <a:lstStyle/>
          <a:p>
            <a:r>
              <a:rPr lang="en-IN" sz="2800" b="1" dirty="0">
                <a:solidFill>
                  <a:srgbClr val="800000"/>
                </a:solidFill>
                <a:latin typeface="Times New Roman" panose="02020603050405020304" pitchFamily="18" charset="0"/>
                <a:cs typeface="Times New Roman" panose="02020603050405020304" pitchFamily="18" charset="0"/>
              </a:rPr>
              <a:t>Course Objectives/ Why this Course?</a:t>
            </a:r>
            <a:endParaRPr lang="en-IN" b="1" dirty="0">
              <a:solidFill>
                <a:srgbClr val="800000"/>
              </a:solidFill>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44841" y="-18389"/>
            <a:ext cx="2057680" cy="798924"/>
          </a:xfrm>
          <a:prstGeom prst="rect">
            <a:avLst/>
          </a:prstGeom>
        </p:spPr>
      </p:pic>
      <p:sp>
        <p:nvSpPr>
          <p:cNvPr id="4" name="TextBox 3"/>
          <p:cNvSpPr txBox="1"/>
          <p:nvPr/>
        </p:nvSpPr>
        <p:spPr>
          <a:xfrm>
            <a:off x="478118" y="1195294"/>
            <a:ext cx="10673976" cy="2535566"/>
          </a:xfrm>
          <a:prstGeom prst="rect">
            <a:avLst/>
          </a:prstGeom>
          <a:noFill/>
        </p:spPr>
        <p:txBody>
          <a:bodyPr wrap="square" rtlCol="0">
            <a:spAutoFit/>
          </a:bodyPr>
          <a:lstStyle/>
          <a:p>
            <a:pPr marL="285750" indent="-285750">
              <a:lnSpc>
                <a:spcPct val="15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This course is designed to enhance programming skills and logical thinking in competitive coding. </a:t>
            </a:r>
          </a:p>
          <a:p>
            <a:pPr marL="285750" indent="-285750">
              <a:lnSpc>
                <a:spcPct val="15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It will focus on the implementation and application of advanced data structures such as linked lists, queues, stacks, trees, and graphs, along with dynamic programming techniques. </a:t>
            </a:r>
          </a:p>
          <a:p>
            <a:pPr marL="285750" indent="-285750">
              <a:lnSpc>
                <a:spcPct val="15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Through this, you will strengthen your problem-solving abilities and improve your proficiency in tackling complex programming challenges.</a:t>
            </a:r>
            <a:endParaRPr lang="en-IN"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
            </a:pPr>
            <a:endParaRPr lang="en-IN" dirty="0">
              <a:latin typeface="Times New Roman" panose="02020603050405020304" pitchFamily="18" charset="0"/>
              <a:cs typeface="Times New Roman" panose="02020603050405020304" pitchFamily="18" charset="0"/>
            </a:endParaRPr>
          </a:p>
        </p:txBody>
      </p:sp>
      <p:pic>
        <p:nvPicPr>
          <p:cNvPr id="5" name="Picture 2">
            <a:extLst>
              <a:ext uri="{FF2B5EF4-FFF2-40B4-BE49-F238E27FC236}">
                <a16:creationId xmlns:a16="http://schemas.microsoft.com/office/drawing/2014/main" id="{FC448699-90A6-819F-7D5C-A2659288C40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99594" y="6225404"/>
            <a:ext cx="1905000" cy="238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4082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2000" cy="705224"/>
          </a:xfrm>
          <a:prstGeom prst="rect">
            <a:avLst/>
          </a:prstGeom>
        </p:spPr>
        <p:style>
          <a:lnRef idx="0">
            <a:schemeClr val="accent3"/>
          </a:lnRef>
          <a:fillRef idx="3">
            <a:schemeClr val="accent3"/>
          </a:fillRef>
          <a:effectRef idx="3">
            <a:schemeClr val="accent3"/>
          </a:effectRef>
          <a:fontRef idx="minor">
            <a:schemeClr val="lt1"/>
          </a:fontRef>
        </p:style>
        <p:txBody>
          <a:bodyPr rtlCol="0" anchor="ctr"/>
          <a:lstStyle/>
          <a:p>
            <a:r>
              <a:rPr lang="en-IN" sz="2800" b="1" dirty="0">
                <a:solidFill>
                  <a:srgbClr val="800000"/>
                </a:solidFill>
                <a:latin typeface="Times New Roman" panose="02020603050405020304" pitchFamily="18" charset="0"/>
                <a:cs typeface="Times New Roman" panose="02020603050405020304" pitchFamily="18" charset="0"/>
              </a:rPr>
              <a:t>Course Outline</a:t>
            </a:r>
            <a:endParaRPr lang="en-IN" b="1" dirty="0">
              <a:solidFill>
                <a:srgbClr val="800000"/>
              </a:solidFill>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44841" y="-18389"/>
            <a:ext cx="2057680" cy="798924"/>
          </a:xfrm>
          <a:prstGeom prst="rect">
            <a:avLst/>
          </a:prstGeom>
        </p:spPr>
      </p:pic>
      <p:graphicFrame>
        <p:nvGraphicFramePr>
          <p:cNvPr id="5" name="Table 4"/>
          <p:cNvGraphicFramePr>
            <a:graphicFrameLocks noGrp="1"/>
          </p:cNvGraphicFramePr>
          <p:nvPr>
            <p:extLst>
              <p:ext uri="{D42A27DB-BD31-4B8C-83A1-F6EECF244321}">
                <p14:modId xmlns:p14="http://schemas.microsoft.com/office/powerpoint/2010/main" val="3185611230"/>
              </p:ext>
            </p:extLst>
          </p:nvPr>
        </p:nvGraphicFramePr>
        <p:xfrm>
          <a:off x="171420" y="798924"/>
          <a:ext cx="11473182" cy="5922773"/>
        </p:xfrm>
        <a:graphic>
          <a:graphicData uri="http://schemas.openxmlformats.org/drawingml/2006/table">
            <a:tbl>
              <a:tblPr firstRow="1" bandRow="1">
                <a:tableStyleId>{5C22544A-7EE6-4342-B048-85BDC9FD1C3A}</a:tableStyleId>
              </a:tblPr>
              <a:tblGrid>
                <a:gridCol w="3374506">
                  <a:extLst>
                    <a:ext uri="{9D8B030D-6E8A-4147-A177-3AD203B41FA5}">
                      <a16:colId xmlns:a16="http://schemas.microsoft.com/office/drawing/2014/main" val="20000"/>
                    </a:ext>
                  </a:extLst>
                </a:gridCol>
                <a:gridCol w="4049338">
                  <a:extLst>
                    <a:ext uri="{9D8B030D-6E8A-4147-A177-3AD203B41FA5}">
                      <a16:colId xmlns:a16="http://schemas.microsoft.com/office/drawing/2014/main" val="20001"/>
                    </a:ext>
                  </a:extLst>
                </a:gridCol>
                <a:gridCol w="4049338">
                  <a:extLst>
                    <a:ext uri="{9D8B030D-6E8A-4147-A177-3AD203B41FA5}">
                      <a16:colId xmlns:a16="http://schemas.microsoft.com/office/drawing/2014/main" val="20002"/>
                    </a:ext>
                  </a:extLst>
                </a:gridCol>
              </a:tblGrid>
              <a:tr h="432286">
                <a:tc>
                  <a:txBody>
                    <a:bodyPr/>
                    <a:lstStyle/>
                    <a:p>
                      <a:r>
                        <a:rPr lang="en-IN" dirty="0">
                          <a:solidFill>
                            <a:schemeClr val="tx1">
                              <a:lumMod val="95000"/>
                              <a:lumOff val="5000"/>
                            </a:schemeClr>
                          </a:solidFill>
                          <a:latin typeface="Times New Roman" panose="02020603050405020304" pitchFamily="18" charset="0"/>
                          <a:cs typeface="Times New Roman" panose="02020603050405020304" pitchFamily="18" charset="0"/>
                        </a:rPr>
                        <a:t>Number of Modules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solidFill>
                            <a:schemeClr val="tx1">
                              <a:lumMod val="95000"/>
                              <a:lumOff val="5000"/>
                            </a:schemeClr>
                          </a:solidFill>
                          <a:latin typeface="Times New Roman" panose="02020603050405020304" pitchFamily="18" charset="0"/>
                          <a:cs typeface="Times New Roman" panose="02020603050405020304" pitchFamily="18"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solidFill>
                            <a:schemeClr val="tx1">
                              <a:lumMod val="95000"/>
                              <a:lumOff val="5000"/>
                            </a:schemeClr>
                          </a:solidFill>
                          <a:latin typeface="Times New Roman" panose="02020603050405020304" pitchFamily="18" charset="0"/>
                          <a:cs typeface="Times New Roman" panose="02020603050405020304" pitchFamily="18" charset="0"/>
                        </a:rPr>
                        <a:t>Total number of classes required: 45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582106">
                <a:tc>
                  <a:txBody>
                    <a:bodyPr/>
                    <a:lstStyle/>
                    <a:p>
                      <a:r>
                        <a:rPr lang="en-IN" b="1" dirty="0">
                          <a:latin typeface="Times New Roman" panose="02020603050405020304" pitchFamily="18" charset="0"/>
                          <a:cs typeface="Times New Roman" panose="02020603050405020304" pitchFamily="18" charset="0"/>
                        </a:rPr>
                        <a:t>Module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b="1" dirty="0">
                          <a:latin typeface="Times New Roman" panose="02020603050405020304" pitchFamily="18" charset="0"/>
                          <a:cs typeface="Times New Roman" panose="02020603050405020304" pitchFamily="18" charset="0"/>
                        </a:rPr>
                        <a:t>Data Structures(LinkedList ,Stack , Queue)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b="1" dirty="0">
                          <a:latin typeface="Times New Roman" panose="02020603050405020304" pitchFamily="18" charset="0"/>
                          <a:cs typeface="Times New Roman" panose="02020603050405020304" pitchFamily="18" charset="0"/>
                        </a:rPr>
                        <a:t>No. of Hours: 12hrs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827374">
                <a:tc gridSpan="3">
                  <a:txBody>
                    <a:bodyPr/>
                    <a:lstStyle/>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Loop Detection</a:t>
                      </a: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Sort the bitonic DLL</a:t>
                      </a: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Segregate even &amp; odd nodes in a LL</a:t>
                      </a: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Merge sort for DLL</a:t>
                      </a: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Minimum Stack </a:t>
                      </a: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The Celebrity problem</a:t>
                      </a: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Iterative Tower of Hanoi</a:t>
                      </a: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Stock Span problem</a:t>
                      </a: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Priority Queue using DLL</a:t>
                      </a: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Sort without extra Space</a:t>
                      </a: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Stack permutations</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844890">
                <a:tc>
                  <a:txBody>
                    <a:bodyPr/>
                    <a:lstStyle/>
                    <a:p>
                      <a:r>
                        <a:rPr lang="en-IN" dirty="0">
                          <a:latin typeface="Times New Roman" panose="02020603050405020304" pitchFamily="18" charset="0"/>
                          <a:cs typeface="Times New Roman" panose="02020603050405020304" pitchFamily="18" charset="0"/>
                        </a:rPr>
                        <a:t>Major takeaways from Module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r>
                        <a:rPr lang="en-IN" dirty="0">
                          <a:latin typeface="Times New Roman" panose="02020603050405020304" pitchFamily="18" charset="0"/>
                          <a:cs typeface="Times New Roman" panose="02020603050405020304" pitchFamily="18" charset="0"/>
                        </a:rPr>
                        <a:t>You will get used to different data structures like LinkedList , Stacks and queues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896557">
                <a:tc>
                  <a:txBody>
                    <a:bodyPr/>
                    <a:lstStyle/>
                    <a:p>
                      <a:r>
                        <a:rPr lang="en-IN" dirty="0">
                          <a:latin typeface="Times New Roman" panose="02020603050405020304" pitchFamily="18" charset="0"/>
                          <a:cs typeface="Times New Roman" panose="02020603050405020304" pitchFamily="18" charset="0"/>
                        </a:rPr>
                        <a:t>Activities from Module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pic>
        <p:nvPicPr>
          <p:cNvPr id="4" name="Picture 2">
            <a:extLst>
              <a:ext uri="{FF2B5EF4-FFF2-40B4-BE49-F238E27FC236}">
                <a16:creationId xmlns:a16="http://schemas.microsoft.com/office/drawing/2014/main" id="{55862D8D-6ED0-9943-D7FE-56860EB468F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87000" y="6425650"/>
            <a:ext cx="1905000" cy="2381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2000" cy="705224"/>
          </a:xfrm>
          <a:prstGeom prst="rect">
            <a:avLst/>
          </a:prstGeom>
        </p:spPr>
        <p:style>
          <a:lnRef idx="0">
            <a:schemeClr val="accent3"/>
          </a:lnRef>
          <a:fillRef idx="3">
            <a:schemeClr val="accent3"/>
          </a:fillRef>
          <a:effectRef idx="3">
            <a:schemeClr val="accent3"/>
          </a:effectRef>
          <a:fontRef idx="minor">
            <a:schemeClr val="lt1"/>
          </a:fontRef>
        </p:style>
        <p:txBody>
          <a:bodyPr rtlCol="0" anchor="ctr"/>
          <a:lstStyle/>
          <a:p>
            <a:r>
              <a:rPr lang="en-IN" sz="2800" b="1" dirty="0">
                <a:solidFill>
                  <a:srgbClr val="800000"/>
                </a:solidFill>
                <a:latin typeface="Times New Roman" panose="02020603050405020304" pitchFamily="18" charset="0"/>
                <a:cs typeface="Times New Roman" panose="02020603050405020304" pitchFamily="18" charset="0"/>
              </a:rPr>
              <a:t>Course Outline</a:t>
            </a:r>
            <a:endParaRPr lang="en-IN" b="1" dirty="0">
              <a:solidFill>
                <a:srgbClr val="800000"/>
              </a:solidFill>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44841" y="-18389"/>
            <a:ext cx="2057680" cy="798924"/>
          </a:xfrm>
          <a:prstGeom prst="rect">
            <a:avLst/>
          </a:prstGeom>
        </p:spPr>
      </p:pic>
      <p:graphicFrame>
        <p:nvGraphicFramePr>
          <p:cNvPr id="5" name="Table 4"/>
          <p:cNvGraphicFramePr>
            <a:graphicFrameLocks noGrp="1"/>
          </p:cNvGraphicFramePr>
          <p:nvPr>
            <p:extLst>
              <p:ext uri="{D42A27DB-BD31-4B8C-83A1-F6EECF244321}">
                <p14:modId xmlns:p14="http://schemas.microsoft.com/office/powerpoint/2010/main" val="1914456562"/>
              </p:ext>
            </p:extLst>
          </p:nvPr>
        </p:nvGraphicFramePr>
        <p:xfrm>
          <a:off x="312857" y="804352"/>
          <a:ext cx="11047902" cy="4673623"/>
        </p:xfrm>
        <a:graphic>
          <a:graphicData uri="http://schemas.openxmlformats.org/drawingml/2006/table">
            <a:tbl>
              <a:tblPr firstRow="1" bandRow="1">
                <a:tableStyleId>{5C22544A-7EE6-4342-B048-85BDC9FD1C3A}</a:tableStyleId>
              </a:tblPr>
              <a:tblGrid>
                <a:gridCol w="3249422">
                  <a:extLst>
                    <a:ext uri="{9D8B030D-6E8A-4147-A177-3AD203B41FA5}">
                      <a16:colId xmlns:a16="http://schemas.microsoft.com/office/drawing/2014/main" val="20000"/>
                    </a:ext>
                  </a:extLst>
                </a:gridCol>
                <a:gridCol w="3899240">
                  <a:extLst>
                    <a:ext uri="{9D8B030D-6E8A-4147-A177-3AD203B41FA5}">
                      <a16:colId xmlns:a16="http://schemas.microsoft.com/office/drawing/2014/main" val="20001"/>
                    </a:ext>
                  </a:extLst>
                </a:gridCol>
                <a:gridCol w="3899240">
                  <a:extLst>
                    <a:ext uri="{9D8B030D-6E8A-4147-A177-3AD203B41FA5}">
                      <a16:colId xmlns:a16="http://schemas.microsoft.com/office/drawing/2014/main" val="20002"/>
                    </a:ext>
                  </a:extLst>
                </a:gridCol>
              </a:tblGrid>
              <a:tr h="418066">
                <a:tc>
                  <a:txBody>
                    <a:bodyPr/>
                    <a:lstStyle/>
                    <a:p>
                      <a:r>
                        <a:rPr lang="en-IN" b="1" dirty="0">
                          <a:solidFill>
                            <a:schemeClr val="tx1">
                              <a:lumMod val="95000"/>
                              <a:lumOff val="5000"/>
                            </a:schemeClr>
                          </a:solidFill>
                          <a:latin typeface="Times New Roman" panose="02020603050405020304" pitchFamily="18" charset="0"/>
                          <a:cs typeface="Times New Roman" panose="02020603050405020304" pitchFamily="18" charset="0"/>
                        </a:rPr>
                        <a:t>Module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b="1" dirty="0">
                          <a:solidFill>
                            <a:schemeClr val="tx1">
                              <a:lumMod val="95000"/>
                              <a:lumOff val="5000"/>
                            </a:schemeClr>
                          </a:solidFill>
                          <a:latin typeface="Times New Roman" panose="02020603050405020304" pitchFamily="18" charset="0"/>
                          <a:cs typeface="Times New Roman" panose="02020603050405020304" pitchFamily="18" charset="0"/>
                        </a:rPr>
                        <a:t>Data Structures: Trees , Graphs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b="1" dirty="0">
                          <a:solidFill>
                            <a:schemeClr val="tx1">
                              <a:lumMod val="95000"/>
                              <a:lumOff val="5000"/>
                            </a:schemeClr>
                          </a:solidFill>
                          <a:latin typeface="Times New Roman" panose="02020603050405020304" pitchFamily="18" charset="0"/>
                          <a:cs typeface="Times New Roman" panose="02020603050405020304" pitchFamily="18" charset="0"/>
                        </a:rPr>
                        <a:t>No. of Hours: 12hrs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1232344">
                <a:tc gridSpan="3">
                  <a:txBody>
                    <a:bodyPr/>
                    <a:lstStyle/>
                    <a:p>
                      <a:pPr marL="285750" indent="-285750">
                        <a:lnSpc>
                          <a:spcPct val="107000"/>
                        </a:lnSpc>
                        <a:spcAft>
                          <a:spcPts val="800"/>
                        </a:spcAft>
                        <a:buFont typeface="Arial" panose="020B0604020202020204" pitchFamily="34" charset="0"/>
                        <a:buChar char="•"/>
                      </a:pPr>
                      <a:r>
                        <a:rPr lang="en-IN" sz="1800" b="1" kern="0" dirty="0">
                          <a:solidFill>
                            <a:srgbClr val="000009"/>
                          </a:solidFill>
                          <a:effectLst/>
                          <a:latin typeface="Times New Roman" panose="02020603050405020304" pitchFamily="18" charset="0"/>
                          <a:ea typeface="Times New Roman" panose="02020603050405020304" pitchFamily="18" charset="0"/>
                          <a:cs typeface="Times New Roman" panose="02020603050405020304" pitchFamily="18" charset="0"/>
                        </a:rPr>
                        <a:t>Recover the BST </a:t>
                      </a:r>
                    </a:p>
                    <a:p>
                      <a:pPr marL="285750" indent="-285750">
                        <a:lnSpc>
                          <a:spcPct val="107000"/>
                        </a:lnSpc>
                        <a:spcAft>
                          <a:spcPts val="800"/>
                        </a:spcAft>
                        <a:buFont typeface="Arial" panose="020B0604020202020204" pitchFamily="34" charset="0"/>
                        <a:buChar char="•"/>
                      </a:pPr>
                      <a:r>
                        <a:rPr lang="en-IN" sz="1800" b="1" kern="0" dirty="0">
                          <a:solidFill>
                            <a:srgbClr val="000009"/>
                          </a:solidFill>
                          <a:effectLst/>
                          <a:latin typeface="Times New Roman" panose="02020603050405020304" pitchFamily="18" charset="0"/>
                          <a:ea typeface="Calibri" panose="020F0502020204030204" pitchFamily="34" charset="0"/>
                          <a:cs typeface="Times New Roman" panose="02020603050405020304" pitchFamily="18" charset="0"/>
                        </a:rPr>
                        <a:t>Views of a Tree</a:t>
                      </a:r>
                    </a:p>
                    <a:p>
                      <a:pPr marL="285750" indent="-285750">
                        <a:lnSpc>
                          <a:spcPct val="107000"/>
                        </a:lnSpc>
                        <a:spcAft>
                          <a:spcPts val="800"/>
                        </a:spcAft>
                        <a:buFont typeface="Arial" panose="020B0604020202020204" pitchFamily="34" charset="0"/>
                        <a:buChar char="•"/>
                      </a:pPr>
                      <a:r>
                        <a:rPr lang="en-IN" sz="1800" b="1" kern="0" dirty="0">
                          <a:solidFill>
                            <a:srgbClr val="000009"/>
                          </a:solidFill>
                          <a:effectLst/>
                          <a:latin typeface="Times New Roman" panose="02020603050405020304" pitchFamily="18" charset="0"/>
                          <a:ea typeface="Calibri" panose="020F0502020204030204" pitchFamily="34" charset="0"/>
                          <a:cs typeface="Times New Roman" panose="02020603050405020304" pitchFamily="18" charset="0"/>
                        </a:rPr>
                        <a:t>Vertical Order Traversal</a:t>
                      </a:r>
                    </a:p>
                    <a:p>
                      <a:pPr marL="285750" indent="-285750">
                        <a:lnSpc>
                          <a:spcPct val="107000"/>
                        </a:lnSpc>
                        <a:spcAft>
                          <a:spcPts val="800"/>
                        </a:spcAft>
                        <a:buFont typeface="Arial" panose="020B0604020202020204" pitchFamily="34" charset="0"/>
                        <a:buChar char="•"/>
                      </a:pPr>
                      <a:r>
                        <a:rPr lang="en-IN" sz="1800" b="1" kern="0" dirty="0">
                          <a:solidFill>
                            <a:srgbClr val="000009"/>
                          </a:solidFill>
                          <a:effectLst/>
                          <a:latin typeface="Times New Roman" panose="02020603050405020304" pitchFamily="18" charset="0"/>
                          <a:ea typeface="Calibri" panose="020F0502020204030204" pitchFamily="34" charset="0"/>
                          <a:cs typeface="Times New Roman" panose="02020603050405020304" pitchFamily="18" charset="0"/>
                        </a:rPr>
                        <a:t>Boundary Traversal</a:t>
                      </a:r>
                    </a:p>
                    <a:p>
                      <a:pPr marL="285750" indent="-285750">
                        <a:lnSpc>
                          <a:spcPct val="107000"/>
                        </a:lnSpc>
                        <a:spcAft>
                          <a:spcPts val="800"/>
                        </a:spcAft>
                        <a:buFont typeface="Arial" panose="020B0604020202020204" pitchFamily="34" charset="0"/>
                        <a:buChar char="•"/>
                      </a:pPr>
                      <a:r>
                        <a:rPr lang="en-IN" sz="1800" b="1" kern="0" dirty="0">
                          <a:solidFill>
                            <a:srgbClr val="000009"/>
                          </a:solidFill>
                          <a:effectLst/>
                          <a:latin typeface="Times New Roman" panose="02020603050405020304" pitchFamily="18" charset="0"/>
                          <a:ea typeface="Calibri" panose="020F0502020204030204" pitchFamily="34" charset="0"/>
                          <a:cs typeface="Times New Roman" panose="02020603050405020304" pitchFamily="18" charset="0"/>
                        </a:rPr>
                        <a:t>BFS,DFS</a:t>
                      </a:r>
                      <a:endPar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nSpc>
                          <a:spcPct val="107000"/>
                        </a:lnSpc>
                        <a:spcAft>
                          <a:spcPts val="800"/>
                        </a:spcAft>
                        <a:buFont typeface="Arial" panose="020B0604020202020204" pitchFamily="34" charset="0"/>
                        <a:buChar char="•"/>
                      </a:pPr>
                      <a:r>
                        <a:rPr lang="en-IN" sz="1800" b="1" kern="0" dirty="0">
                          <a:solidFill>
                            <a:srgbClr val="000009"/>
                          </a:solidFill>
                          <a:effectLst/>
                          <a:latin typeface="Times New Roman" panose="02020603050405020304" pitchFamily="18" charset="0"/>
                          <a:cs typeface="Times New Roman" panose="02020603050405020304" pitchFamily="18" charset="0"/>
                        </a:rPr>
                        <a:t>Dial’s Algorithm</a:t>
                      </a:r>
                      <a:endParaRPr lang="en-IN" sz="18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929035">
                <a:tc>
                  <a:txBody>
                    <a:bodyPr/>
                    <a:lstStyle/>
                    <a:p>
                      <a:r>
                        <a:rPr lang="en-IN" dirty="0">
                          <a:latin typeface="Times New Roman" panose="02020603050405020304" pitchFamily="18" charset="0"/>
                          <a:cs typeface="Times New Roman" panose="02020603050405020304" pitchFamily="18" charset="0"/>
                        </a:rPr>
                        <a:t>Major takeaways from Module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r>
                        <a:rPr lang="en-IN" dirty="0">
                          <a:latin typeface="Times New Roman" panose="02020603050405020304" pitchFamily="18" charset="0"/>
                          <a:cs typeface="Times New Roman" panose="02020603050405020304" pitchFamily="18" charset="0"/>
                        </a:rPr>
                        <a:t>Learning about the logic developing and usage of Trees and Graphs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985848">
                <a:tc>
                  <a:txBody>
                    <a:bodyPr/>
                    <a:lstStyle/>
                    <a:p>
                      <a:r>
                        <a:rPr lang="en-IN" dirty="0">
                          <a:latin typeface="Times New Roman" panose="02020603050405020304" pitchFamily="18" charset="0"/>
                          <a:cs typeface="Times New Roman" panose="02020603050405020304" pitchFamily="18" charset="0"/>
                        </a:rPr>
                        <a:t>Activities from Module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pic>
        <p:nvPicPr>
          <p:cNvPr id="4" name="Picture 2">
            <a:extLst>
              <a:ext uri="{FF2B5EF4-FFF2-40B4-BE49-F238E27FC236}">
                <a16:creationId xmlns:a16="http://schemas.microsoft.com/office/drawing/2014/main" id="{6D68D08F-33F6-B0C2-4A21-DA9757C8E97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87000" y="6122949"/>
            <a:ext cx="1905000" cy="23812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E43CB95B-017D-AD56-5F0B-19DEE99308F6}"/>
              </a:ext>
            </a:extLst>
          </p:cNvPr>
          <p:cNvSpPr txBox="1"/>
          <p:nvPr/>
        </p:nvSpPr>
        <p:spPr>
          <a:xfrm>
            <a:off x="4077478" y="1194319"/>
            <a:ext cx="2941831" cy="2363532"/>
          </a:xfrm>
          <a:prstGeom prst="rect">
            <a:avLst/>
          </a:prstGeom>
          <a:noFill/>
        </p:spPr>
        <p:txBody>
          <a:bodyPr wrap="none" rtlCol="0">
            <a:spAutoFit/>
          </a:bodyPr>
          <a:lstStyle/>
          <a:p>
            <a:pPr marL="285750" indent="-285750">
              <a:lnSpc>
                <a:spcPct val="107000"/>
              </a:lnSpc>
              <a:spcAft>
                <a:spcPts val="800"/>
              </a:spcAft>
              <a:buFont typeface="Arial" panose="020B0604020202020204" pitchFamily="34" charset="0"/>
              <a:buChar char="•"/>
            </a:pPr>
            <a:r>
              <a:rPr lang="en-IN" sz="1800" b="1" kern="0" dirty="0">
                <a:solidFill>
                  <a:srgbClr val="000009"/>
                </a:solidFill>
                <a:effectLst/>
                <a:latin typeface="Times New Roman" panose="02020603050405020304" pitchFamily="18" charset="0"/>
                <a:ea typeface="Times New Roman" panose="02020603050405020304" pitchFamily="18" charset="0"/>
                <a:cs typeface="Times New Roman" panose="02020603050405020304" pitchFamily="18" charset="0"/>
              </a:rPr>
              <a:t>Bellman-Ford Algorithm</a:t>
            </a:r>
          </a:p>
          <a:p>
            <a:pPr marL="285750" indent="-285750">
              <a:lnSpc>
                <a:spcPct val="107000"/>
              </a:lnSpc>
              <a:spcAft>
                <a:spcPts val="800"/>
              </a:spcAft>
              <a:buFont typeface="Arial" panose="020B0604020202020204" pitchFamily="34" charset="0"/>
              <a:buChar char="•"/>
            </a:pPr>
            <a:r>
              <a:rPr lang="en-IN" b="1" kern="0" dirty="0">
                <a:solidFill>
                  <a:srgbClr val="000009"/>
                </a:solidFill>
                <a:latin typeface="Times New Roman" panose="02020603050405020304" pitchFamily="18" charset="0"/>
                <a:ea typeface="Times New Roman" panose="02020603050405020304" pitchFamily="18" charset="0"/>
                <a:cs typeface="Times New Roman" panose="02020603050405020304" pitchFamily="18" charset="0"/>
              </a:rPr>
              <a:t>Topological Sort</a:t>
            </a:r>
          </a:p>
          <a:p>
            <a:pPr marL="285750" indent="-285750">
              <a:lnSpc>
                <a:spcPct val="107000"/>
              </a:lnSpc>
              <a:spcAft>
                <a:spcPts val="800"/>
              </a:spcAft>
              <a:buFont typeface="Arial" panose="020B0604020202020204" pitchFamily="34" charset="0"/>
              <a:buChar char="•"/>
            </a:pPr>
            <a:r>
              <a:rPr lang="en-IN" sz="1800" b="1" kern="0" dirty="0">
                <a:solidFill>
                  <a:srgbClr val="000009"/>
                </a:solidFill>
                <a:effectLst/>
                <a:latin typeface="Times New Roman" panose="02020603050405020304" pitchFamily="18" charset="0"/>
                <a:ea typeface="Times New Roman" panose="02020603050405020304" pitchFamily="18" charset="0"/>
                <a:cs typeface="Times New Roman" panose="02020603050405020304" pitchFamily="18" charset="0"/>
              </a:rPr>
              <a:t>Heap Sort</a:t>
            </a:r>
          </a:p>
          <a:p>
            <a:pPr marL="285750" indent="-285750">
              <a:lnSpc>
                <a:spcPct val="107000"/>
              </a:lnSpc>
              <a:spcAft>
                <a:spcPts val="800"/>
              </a:spcAft>
              <a:buFont typeface="Arial" panose="020B0604020202020204" pitchFamily="34" charset="0"/>
              <a:buChar char="•"/>
            </a:pPr>
            <a:r>
              <a:rPr lang="en-IN" b="1" kern="0" dirty="0">
                <a:solidFill>
                  <a:srgbClr val="000009"/>
                </a:solidFill>
                <a:latin typeface="Times New Roman" panose="02020603050405020304" pitchFamily="18" charset="0"/>
                <a:ea typeface="Times New Roman" panose="02020603050405020304" pitchFamily="18" charset="0"/>
                <a:cs typeface="Times New Roman" panose="02020603050405020304" pitchFamily="18" charset="0"/>
              </a:rPr>
              <a:t>Binomial Heap</a:t>
            </a:r>
          </a:p>
          <a:p>
            <a:pPr marL="285750" indent="-285750">
              <a:lnSpc>
                <a:spcPct val="107000"/>
              </a:lnSpc>
              <a:spcAft>
                <a:spcPts val="800"/>
              </a:spcAft>
              <a:buFont typeface="Arial" panose="020B0604020202020204" pitchFamily="34" charset="0"/>
              <a:buChar char="•"/>
            </a:pPr>
            <a:r>
              <a:rPr lang="en-IN" sz="1800" b="1" kern="0" dirty="0">
                <a:solidFill>
                  <a:srgbClr val="000009"/>
                </a:solidFill>
                <a:effectLst/>
                <a:latin typeface="Times New Roman" panose="02020603050405020304" pitchFamily="18" charset="0"/>
                <a:ea typeface="Calibri" panose="020F0502020204030204" pitchFamily="34" charset="0"/>
                <a:cs typeface="Times New Roman" panose="02020603050405020304" pitchFamily="18" charset="0"/>
              </a:rPr>
              <a:t>K </a:t>
            </a:r>
            <a:r>
              <a:rPr lang="en-IN" sz="1800" b="1" kern="0" dirty="0" err="1">
                <a:solidFill>
                  <a:srgbClr val="000009"/>
                </a:solidFill>
                <a:effectLst/>
                <a:latin typeface="Times New Roman" panose="02020603050405020304" pitchFamily="18" charset="0"/>
                <a:ea typeface="Calibri" panose="020F0502020204030204" pitchFamily="34" charset="0"/>
                <a:cs typeface="Times New Roman" panose="02020603050405020304" pitchFamily="18" charset="0"/>
              </a:rPr>
              <a:t>ary</a:t>
            </a:r>
            <a:r>
              <a:rPr lang="en-IN" sz="1800" b="1" kern="0" dirty="0">
                <a:solidFill>
                  <a:srgbClr val="000009"/>
                </a:solidFill>
                <a:effectLst/>
                <a:latin typeface="Times New Roman" panose="02020603050405020304" pitchFamily="18" charset="0"/>
                <a:ea typeface="Calibri" panose="020F0502020204030204" pitchFamily="34" charset="0"/>
                <a:cs typeface="Times New Roman" panose="02020603050405020304" pitchFamily="18" charset="0"/>
              </a:rPr>
              <a:t> heap</a:t>
            </a:r>
          </a:p>
          <a:p>
            <a:pPr marL="285750" indent="-285750">
              <a:lnSpc>
                <a:spcPct val="107000"/>
              </a:lnSpc>
              <a:spcAft>
                <a:spcPts val="800"/>
              </a:spcAft>
              <a:buFont typeface="Arial" panose="020B0604020202020204" pitchFamily="34" charset="0"/>
              <a:buChar char="•"/>
            </a:pPr>
            <a:r>
              <a:rPr lang="en-IN" b="1" kern="0" dirty="0">
                <a:solidFill>
                  <a:srgbClr val="000009"/>
                </a:solidFill>
                <a:latin typeface="Times New Roman" panose="02020603050405020304" pitchFamily="18" charset="0"/>
                <a:ea typeface="Calibri" panose="020F0502020204030204" pitchFamily="34" charset="0"/>
                <a:cs typeface="Times New Roman" panose="02020603050405020304" pitchFamily="18" charset="0"/>
              </a:rPr>
              <a:t>Winner Tree</a:t>
            </a:r>
            <a:endPar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2000" cy="705224"/>
          </a:xfrm>
          <a:prstGeom prst="rect">
            <a:avLst/>
          </a:prstGeom>
        </p:spPr>
        <p:style>
          <a:lnRef idx="0">
            <a:schemeClr val="accent3"/>
          </a:lnRef>
          <a:fillRef idx="3">
            <a:schemeClr val="accent3"/>
          </a:fillRef>
          <a:effectRef idx="3">
            <a:schemeClr val="accent3"/>
          </a:effectRef>
          <a:fontRef idx="minor">
            <a:schemeClr val="lt1"/>
          </a:fontRef>
        </p:style>
        <p:txBody>
          <a:bodyPr rtlCol="0" anchor="ctr"/>
          <a:lstStyle/>
          <a:p>
            <a:r>
              <a:rPr lang="en-IN" sz="2800" b="1" dirty="0">
                <a:solidFill>
                  <a:srgbClr val="800000"/>
                </a:solidFill>
                <a:latin typeface="Times New Roman" panose="02020603050405020304" pitchFamily="18" charset="0"/>
                <a:cs typeface="Times New Roman" panose="02020603050405020304" pitchFamily="18" charset="0"/>
              </a:rPr>
              <a:t>Course Outline</a:t>
            </a:r>
            <a:endParaRPr lang="en-IN" b="1" dirty="0">
              <a:solidFill>
                <a:srgbClr val="800000"/>
              </a:solidFill>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44841" y="-18389"/>
            <a:ext cx="2057680" cy="798924"/>
          </a:xfrm>
          <a:prstGeom prst="rect">
            <a:avLst/>
          </a:prstGeom>
        </p:spPr>
      </p:pic>
      <p:graphicFrame>
        <p:nvGraphicFramePr>
          <p:cNvPr id="5" name="Table 4"/>
          <p:cNvGraphicFramePr>
            <a:graphicFrameLocks noGrp="1"/>
          </p:cNvGraphicFramePr>
          <p:nvPr>
            <p:extLst>
              <p:ext uri="{D42A27DB-BD31-4B8C-83A1-F6EECF244321}">
                <p14:modId xmlns:p14="http://schemas.microsoft.com/office/powerpoint/2010/main" val="3339960619"/>
              </p:ext>
            </p:extLst>
          </p:nvPr>
        </p:nvGraphicFramePr>
        <p:xfrm>
          <a:off x="279918" y="1030437"/>
          <a:ext cx="10951488" cy="4027830"/>
        </p:xfrm>
        <a:graphic>
          <a:graphicData uri="http://schemas.openxmlformats.org/drawingml/2006/table">
            <a:tbl>
              <a:tblPr firstRow="1" bandRow="1">
                <a:tableStyleId>{5C22544A-7EE6-4342-B048-85BDC9FD1C3A}</a:tableStyleId>
              </a:tblPr>
              <a:tblGrid>
                <a:gridCol w="3153008">
                  <a:extLst>
                    <a:ext uri="{9D8B030D-6E8A-4147-A177-3AD203B41FA5}">
                      <a16:colId xmlns:a16="http://schemas.microsoft.com/office/drawing/2014/main" val="20000"/>
                    </a:ext>
                  </a:extLst>
                </a:gridCol>
                <a:gridCol w="3899240">
                  <a:extLst>
                    <a:ext uri="{9D8B030D-6E8A-4147-A177-3AD203B41FA5}">
                      <a16:colId xmlns:a16="http://schemas.microsoft.com/office/drawing/2014/main" val="20001"/>
                    </a:ext>
                  </a:extLst>
                </a:gridCol>
                <a:gridCol w="3899240">
                  <a:extLst>
                    <a:ext uri="{9D8B030D-6E8A-4147-A177-3AD203B41FA5}">
                      <a16:colId xmlns:a16="http://schemas.microsoft.com/office/drawing/2014/main" val="20002"/>
                    </a:ext>
                  </a:extLst>
                </a:gridCol>
              </a:tblGrid>
              <a:tr h="418066">
                <a:tc>
                  <a:txBody>
                    <a:bodyPr/>
                    <a:lstStyle/>
                    <a:p>
                      <a:r>
                        <a:rPr lang="en-IN" b="1" dirty="0">
                          <a:solidFill>
                            <a:schemeClr val="tx1">
                              <a:lumMod val="95000"/>
                              <a:lumOff val="5000"/>
                            </a:schemeClr>
                          </a:solidFill>
                          <a:latin typeface="Times New Roman" panose="02020603050405020304" pitchFamily="18" charset="0"/>
                          <a:cs typeface="Times New Roman" panose="02020603050405020304" pitchFamily="18" charset="0"/>
                        </a:rPr>
                        <a:t>Module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kern="0" dirty="0">
                          <a:solidFill>
                            <a:srgbClr val="000000"/>
                          </a:solidFill>
                          <a:effectLst/>
                          <a:latin typeface="TimesNewRomanPS-BoldMT"/>
                          <a:ea typeface="Times New Roman" panose="02020603050405020304" pitchFamily="18" charset="0"/>
                          <a:cs typeface="Times New Roman" panose="02020603050405020304" pitchFamily="18" charset="0"/>
                        </a:rPr>
                        <a:t>Maps, Sets, Hashing </a:t>
                      </a:r>
                      <a:endParaRPr kumimoji="0" lang="en-IN"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b="1" dirty="0">
                          <a:solidFill>
                            <a:schemeClr val="tx1">
                              <a:lumMod val="95000"/>
                              <a:lumOff val="5000"/>
                            </a:schemeClr>
                          </a:solidFill>
                          <a:latin typeface="Times New Roman" panose="02020603050405020304" pitchFamily="18" charset="0"/>
                          <a:cs typeface="Times New Roman" panose="02020603050405020304" pitchFamily="18" charset="0"/>
                        </a:rPr>
                        <a:t>No. of Hours: 3hrs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1694881">
                <a:tc gridSpan="3">
                  <a:txBody>
                    <a:bodyPr/>
                    <a:lstStyle/>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HashMap to Tree Map</a:t>
                      </a: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Types of Sets</a:t>
                      </a:r>
                    </a:p>
                    <a:p>
                      <a:pPr marL="285750" indent="-285750">
                        <a:buFont typeface="Arial" panose="020B0604020202020204" pitchFamily="34" charset="0"/>
                        <a:buChar char="•"/>
                      </a:pPr>
                      <a:r>
                        <a:rPr lang="en-IN" sz="1800" b="1" kern="1200" dirty="0">
                          <a:solidFill>
                            <a:schemeClr val="dk1"/>
                          </a:solidFill>
                          <a:effectLst/>
                          <a:latin typeface="Times New Roman" panose="02020603050405020304" pitchFamily="18" charset="0"/>
                          <a:ea typeface="+mn-ea"/>
                          <a:cs typeface="Times New Roman" panose="02020603050405020304" pitchFamily="18" charset="0"/>
                        </a:rPr>
                        <a:t>Distributing items when a person cannot take more than two items of same type </a:t>
                      </a:r>
                    </a:p>
                    <a:p>
                      <a:endParaRPr lang="en-IN"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929035">
                <a:tc>
                  <a:txBody>
                    <a:bodyPr/>
                    <a:lstStyle/>
                    <a:p>
                      <a:r>
                        <a:rPr lang="en-IN" dirty="0">
                          <a:latin typeface="Times New Roman" panose="02020603050405020304" pitchFamily="18" charset="0"/>
                          <a:cs typeface="Times New Roman" panose="02020603050405020304" pitchFamily="18" charset="0"/>
                        </a:rPr>
                        <a:t>Major takeaways from Module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r>
                        <a:rPr lang="en-IN" dirty="0">
                          <a:latin typeface="Times New Roman" panose="02020603050405020304" pitchFamily="18" charset="0"/>
                          <a:cs typeface="Times New Roman" panose="02020603050405020304" pitchFamily="18" charset="0"/>
                        </a:rPr>
                        <a:t>Learning about the Maps and sets usages and also about hashing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985848">
                <a:tc>
                  <a:txBody>
                    <a:bodyPr/>
                    <a:lstStyle/>
                    <a:p>
                      <a:r>
                        <a:rPr lang="en-IN" dirty="0">
                          <a:latin typeface="Times New Roman" panose="02020603050405020304" pitchFamily="18" charset="0"/>
                          <a:cs typeface="Times New Roman" panose="02020603050405020304" pitchFamily="18" charset="0"/>
                        </a:rPr>
                        <a:t>Activities from Module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pic>
        <p:nvPicPr>
          <p:cNvPr id="4" name="Picture 2">
            <a:extLst>
              <a:ext uri="{FF2B5EF4-FFF2-40B4-BE49-F238E27FC236}">
                <a16:creationId xmlns:a16="http://schemas.microsoft.com/office/drawing/2014/main" id="{7E60F033-6629-630D-6DF5-FBE147CF6AD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87000" y="5988258"/>
            <a:ext cx="1905000" cy="2381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2000" cy="705224"/>
          </a:xfrm>
          <a:prstGeom prst="rect">
            <a:avLst/>
          </a:prstGeom>
        </p:spPr>
        <p:style>
          <a:lnRef idx="0">
            <a:schemeClr val="accent3"/>
          </a:lnRef>
          <a:fillRef idx="3">
            <a:schemeClr val="accent3"/>
          </a:fillRef>
          <a:effectRef idx="3">
            <a:schemeClr val="accent3"/>
          </a:effectRef>
          <a:fontRef idx="minor">
            <a:schemeClr val="lt1"/>
          </a:fontRef>
        </p:style>
        <p:txBody>
          <a:bodyPr rtlCol="0" anchor="ctr"/>
          <a:lstStyle/>
          <a:p>
            <a:r>
              <a:rPr lang="en-IN" sz="2800" b="1" dirty="0">
                <a:solidFill>
                  <a:srgbClr val="800000"/>
                </a:solidFill>
                <a:latin typeface="Times New Roman" panose="02020603050405020304" pitchFamily="18" charset="0"/>
                <a:cs typeface="Times New Roman" panose="02020603050405020304" pitchFamily="18" charset="0"/>
              </a:rPr>
              <a:t>Course Outline</a:t>
            </a:r>
            <a:endParaRPr lang="en-IN" b="1" dirty="0">
              <a:solidFill>
                <a:srgbClr val="800000"/>
              </a:solidFill>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44841" y="-18389"/>
            <a:ext cx="2057680" cy="798924"/>
          </a:xfrm>
          <a:prstGeom prst="rect">
            <a:avLst/>
          </a:prstGeom>
        </p:spPr>
      </p:pic>
      <p:graphicFrame>
        <p:nvGraphicFramePr>
          <p:cNvPr id="5" name="Table 4"/>
          <p:cNvGraphicFramePr>
            <a:graphicFrameLocks noGrp="1"/>
          </p:cNvGraphicFramePr>
          <p:nvPr>
            <p:extLst>
              <p:ext uri="{D42A27DB-BD31-4B8C-83A1-F6EECF244321}">
                <p14:modId xmlns:p14="http://schemas.microsoft.com/office/powerpoint/2010/main" val="1733511324"/>
              </p:ext>
            </p:extLst>
          </p:nvPr>
        </p:nvGraphicFramePr>
        <p:xfrm>
          <a:off x="99884" y="780536"/>
          <a:ext cx="11119439" cy="5275032"/>
        </p:xfrm>
        <a:graphic>
          <a:graphicData uri="http://schemas.openxmlformats.org/drawingml/2006/table">
            <a:tbl>
              <a:tblPr firstRow="1" bandRow="1">
                <a:tableStyleId>{5C22544A-7EE6-4342-B048-85BDC9FD1C3A}</a:tableStyleId>
              </a:tblPr>
              <a:tblGrid>
                <a:gridCol w="3320959">
                  <a:extLst>
                    <a:ext uri="{9D8B030D-6E8A-4147-A177-3AD203B41FA5}">
                      <a16:colId xmlns:a16="http://schemas.microsoft.com/office/drawing/2014/main" val="20000"/>
                    </a:ext>
                  </a:extLst>
                </a:gridCol>
                <a:gridCol w="3899240">
                  <a:extLst>
                    <a:ext uri="{9D8B030D-6E8A-4147-A177-3AD203B41FA5}">
                      <a16:colId xmlns:a16="http://schemas.microsoft.com/office/drawing/2014/main" val="20001"/>
                    </a:ext>
                  </a:extLst>
                </a:gridCol>
                <a:gridCol w="3899240">
                  <a:extLst>
                    <a:ext uri="{9D8B030D-6E8A-4147-A177-3AD203B41FA5}">
                      <a16:colId xmlns:a16="http://schemas.microsoft.com/office/drawing/2014/main" val="20002"/>
                    </a:ext>
                  </a:extLst>
                </a:gridCol>
              </a:tblGrid>
              <a:tr h="543486">
                <a:tc>
                  <a:txBody>
                    <a:bodyPr/>
                    <a:lstStyle/>
                    <a:p>
                      <a:r>
                        <a:rPr lang="en-IN" b="1" dirty="0">
                          <a:solidFill>
                            <a:schemeClr val="tx1">
                              <a:lumMod val="95000"/>
                              <a:lumOff val="5000"/>
                            </a:schemeClr>
                          </a:solidFill>
                          <a:latin typeface="Times New Roman" panose="02020603050405020304" pitchFamily="18" charset="0"/>
                          <a:cs typeface="Times New Roman" panose="02020603050405020304" pitchFamily="18" charset="0"/>
                        </a:rPr>
                        <a:t>Module 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pPr>
                      <a:r>
                        <a:rPr lang="en-IN" sz="1800" b="1" kern="0" dirty="0">
                          <a:solidFill>
                            <a:srgbClr val="000000"/>
                          </a:solidFill>
                          <a:effectLst/>
                          <a:latin typeface="TimesNewRomanPS-BoldMT"/>
                          <a:ea typeface="Times New Roman" panose="02020603050405020304" pitchFamily="18" charset="0"/>
                          <a:cs typeface="Times New Roman" panose="02020603050405020304" pitchFamily="18" charset="0"/>
                        </a:rPr>
                        <a:t>Dynamic Programming </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b="1" dirty="0">
                          <a:solidFill>
                            <a:schemeClr val="tx1">
                              <a:lumMod val="95000"/>
                              <a:lumOff val="5000"/>
                            </a:schemeClr>
                          </a:solidFill>
                          <a:latin typeface="Times New Roman" panose="02020603050405020304" pitchFamily="18" charset="0"/>
                          <a:cs typeface="Times New Roman" panose="02020603050405020304" pitchFamily="18" charset="0"/>
                        </a:rPr>
                        <a:t>No. of Hours: 15 hrs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105636">
                <a:tc gridSpan="3">
                  <a:txBody>
                    <a:bodyPr/>
                    <a:lstStyle/>
                    <a:p>
                      <a:pPr marL="285750" indent="-285750">
                        <a:lnSpc>
                          <a:spcPct val="107000"/>
                        </a:lnSpc>
                        <a:spcAft>
                          <a:spcPts val="800"/>
                        </a:spcAft>
                        <a:buFont typeface="Arial" panose="020B0604020202020204" pitchFamily="34" charset="0"/>
                        <a:buChar char="•"/>
                      </a:pPr>
                      <a:r>
                        <a:rPr lang="en-IN" sz="18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Introduction - Basic Fibonacci problem </a:t>
                      </a:r>
                    </a:p>
                    <a:p>
                      <a:pPr marL="285750" indent="-285750">
                        <a:lnSpc>
                          <a:spcPct val="107000"/>
                        </a:lnSpc>
                        <a:spcAft>
                          <a:spcPts val="800"/>
                        </a:spcAft>
                        <a:buFont typeface="Arial" panose="020B0604020202020204" pitchFamily="34" charset="0"/>
                        <a:buChar char="•"/>
                      </a:pPr>
                      <a:r>
                        <a:rPr lang="en-IN" sz="1800" b="1" kern="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Longest Common Subsequence</a:t>
                      </a:r>
                    </a:p>
                    <a:p>
                      <a:pPr marL="285750" indent="-285750">
                        <a:lnSpc>
                          <a:spcPct val="107000"/>
                        </a:lnSpc>
                        <a:spcAft>
                          <a:spcPts val="800"/>
                        </a:spcAft>
                        <a:buFont typeface="Arial" panose="020B0604020202020204" pitchFamily="34" charset="0"/>
                        <a:buChar char="•"/>
                      </a:pPr>
                      <a:r>
                        <a:rPr lang="en-IN" sz="1800" b="1" kern="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Longest Increasing Subsequence</a:t>
                      </a:r>
                    </a:p>
                    <a:p>
                      <a:pPr marL="285750" indent="-285750">
                        <a:lnSpc>
                          <a:spcPct val="107000"/>
                        </a:lnSpc>
                        <a:spcAft>
                          <a:spcPts val="800"/>
                        </a:spcAft>
                        <a:buFont typeface="Arial" panose="020B0604020202020204" pitchFamily="34" charset="0"/>
                        <a:buChar char="•"/>
                      </a:pPr>
                      <a:r>
                        <a:rPr lang="en-IN" sz="1800" b="1" kern="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Longest Bitonic Subsequence</a:t>
                      </a:r>
                    </a:p>
                    <a:p>
                      <a:pPr marL="285750" indent="-285750">
                        <a:lnSpc>
                          <a:spcPct val="107000"/>
                        </a:lnSpc>
                        <a:spcAft>
                          <a:spcPts val="800"/>
                        </a:spcAft>
                        <a:buFont typeface="Arial" panose="020B0604020202020204" pitchFamily="34" charset="0"/>
                        <a:buChar char="•"/>
                      </a:pPr>
                      <a:r>
                        <a:rPr lang="en-IN" sz="1800" b="1" kern="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Longest Palindromic Subsequence</a:t>
                      </a:r>
                      <a:endParaRPr lang="en-IN" sz="1800" b="1"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nSpc>
                          <a:spcPct val="107000"/>
                        </a:lnSpc>
                        <a:spcAft>
                          <a:spcPts val="800"/>
                        </a:spcAft>
                        <a:buFont typeface="Arial" panose="020B0604020202020204" pitchFamily="34" charset="0"/>
                        <a:buChar char="•"/>
                      </a:pPr>
                      <a:r>
                        <a:rPr lang="en-IN" sz="1800" b="1"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Subset sum problem</a:t>
                      </a:r>
                    </a:p>
                    <a:p>
                      <a:pPr marL="285750" marR="0" lvl="0" indent="-285750" algn="l" defTabSz="914400" rtl="0" eaLnBrk="1" fontAlgn="auto" latinLnBrk="0" hangingPunct="1">
                        <a:lnSpc>
                          <a:spcPct val="107000"/>
                        </a:lnSpc>
                        <a:spcBef>
                          <a:spcPts val="0"/>
                        </a:spcBef>
                        <a:spcAft>
                          <a:spcPts val="800"/>
                        </a:spcAft>
                        <a:buClrTx/>
                        <a:buSzTx/>
                        <a:buFont typeface="Arial" panose="020B0604020202020204" pitchFamily="34" charset="0"/>
                        <a:buChar char="•"/>
                        <a:tabLst/>
                        <a:defRPr/>
                      </a:pPr>
                      <a:r>
                        <a:rPr lang="en-IN" sz="18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0-1 Knapsack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788835">
                <a:tc>
                  <a:txBody>
                    <a:bodyPr/>
                    <a:lstStyle/>
                    <a:p>
                      <a:r>
                        <a:rPr lang="en-IN" dirty="0">
                          <a:latin typeface="Times New Roman" panose="02020603050405020304" pitchFamily="18" charset="0"/>
                          <a:cs typeface="Times New Roman" panose="02020603050405020304" pitchFamily="18" charset="0"/>
                        </a:rPr>
                        <a:t>Major takeaways from Module 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r>
                        <a:rPr lang="en-IN" dirty="0">
                          <a:latin typeface="Times New Roman" panose="02020603050405020304" pitchFamily="18" charset="0"/>
                          <a:cs typeface="Times New Roman" panose="02020603050405020304" pitchFamily="18" charset="0"/>
                        </a:rPr>
                        <a:t>Learn about the Dynamic programming and how it is efficient compared to other approaches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837075">
                <a:tc>
                  <a:txBody>
                    <a:bodyPr/>
                    <a:lstStyle/>
                    <a:p>
                      <a:r>
                        <a:rPr lang="en-IN" dirty="0">
                          <a:latin typeface="Times New Roman" panose="02020603050405020304" pitchFamily="18" charset="0"/>
                          <a:cs typeface="Times New Roman" panose="02020603050405020304" pitchFamily="18" charset="0"/>
                        </a:rPr>
                        <a:t>Activities from Module 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pic>
        <p:nvPicPr>
          <p:cNvPr id="6" name="Picture 2">
            <a:extLst>
              <a:ext uri="{FF2B5EF4-FFF2-40B4-BE49-F238E27FC236}">
                <a16:creationId xmlns:a16="http://schemas.microsoft.com/office/drawing/2014/main" id="{32C23A61-AD03-7835-8756-D561CB98BFA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87000" y="6342545"/>
            <a:ext cx="1905000" cy="23812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210B8B6-2B7E-D6CB-EF36-48C6AA9AF682}"/>
              </a:ext>
            </a:extLst>
          </p:cNvPr>
          <p:cNvSpPr txBox="1"/>
          <p:nvPr/>
        </p:nvSpPr>
        <p:spPr>
          <a:xfrm>
            <a:off x="4590662" y="1376583"/>
            <a:ext cx="3692036" cy="2763064"/>
          </a:xfrm>
          <a:prstGeom prst="rect">
            <a:avLst/>
          </a:prstGeom>
          <a:noFill/>
        </p:spPr>
        <p:txBody>
          <a:bodyPr wrap="none" rtlCol="0">
            <a:spAutoFit/>
          </a:bodyPr>
          <a:lstStyle/>
          <a:p>
            <a:pPr marL="285750" indent="-285750">
              <a:lnSpc>
                <a:spcPct val="107000"/>
              </a:lnSpc>
              <a:spcAft>
                <a:spcPts val="800"/>
              </a:spcAft>
              <a:buFont typeface="Arial" panose="020B0604020202020204" pitchFamily="34" charset="0"/>
              <a:buChar char="•"/>
            </a:pPr>
            <a:r>
              <a:rPr lang="en-IN" b="1" kern="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Traveling Salesman</a:t>
            </a:r>
          </a:p>
          <a:p>
            <a:pPr marL="285750" indent="-285750">
              <a:lnSpc>
                <a:spcPct val="107000"/>
              </a:lnSpc>
              <a:spcAft>
                <a:spcPts val="800"/>
              </a:spcAft>
              <a:buFont typeface="Arial" panose="020B0604020202020204" pitchFamily="34" charset="0"/>
              <a:buChar char="•"/>
            </a:pPr>
            <a:r>
              <a:rPr lang="en-IN" sz="1800" b="1" kern="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Coin change</a:t>
            </a:r>
          </a:p>
          <a:p>
            <a:pPr marL="285750" indent="-285750">
              <a:lnSpc>
                <a:spcPct val="107000"/>
              </a:lnSpc>
              <a:spcAft>
                <a:spcPts val="800"/>
              </a:spcAft>
              <a:buFont typeface="Arial" panose="020B0604020202020204" pitchFamily="34" charset="0"/>
              <a:buChar char="•"/>
            </a:pPr>
            <a:r>
              <a:rPr lang="en-IN" b="1" kern="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Shortest common supersequence</a:t>
            </a:r>
          </a:p>
          <a:p>
            <a:pPr marL="285750" indent="-285750">
              <a:lnSpc>
                <a:spcPct val="107000"/>
              </a:lnSpc>
              <a:spcAft>
                <a:spcPts val="800"/>
              </a:spcAft>
              <a:buFont typeface="Arial" panose="020B0604020202020204" pitchFamily="34" charset="0"/>
              <a:buChar char="•"/>
            </a:pPr>
            <a:r>
              <a:rPr lang="en-IN" sz="1800" b="1" kern="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Levenshtein Distance Problem</a:t>
            </a:r>
          </a:p>
          <a:p>
            <a:pPr marL="285750" indent="-285750">
              <a:lnSpc>
                <a:spcPct val="107000"/>
              </a:lnSpc>
              <a:spcAft>
                <a:spcPts val="800"/>
              </a:spcAft>
              <a:buFont typeface="Arial" panose="020B0604020202020204" pitchFamily="34" charset="0"/>
              <a:buChar char="•"/>
            </a:pPr>
            <a:r>
              <a:rPr lang="en-IN" b="1" kern="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Rod Cutting Problem</a:t>
            </a:r>
          </a:p>
          <a:p>
            <a:pPr marL="285750" indent="-285750">
              <a:lnSpc>
                <a:spcPct val="107000"/>
              </a:lnSpc>
              <a:spcAft>
                <a:spcPts val="800"/>
              </a:spcAft>
              <a:buFont typeface="Arial" panose="020B0604020202020204" pitchFamily="34" charset="0"/>
              <a:buChar char="•"/>
            </a:pPr>
            <a:r>
              <a:rPr lang="en-IN" sz="1800" b="1" kern="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Wildcard Pattern Matching</a:t>
            </a:r>
            <a:endPar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Pots of gold game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2000" cy="705224"/>
          </a:xfrm>
          <a:prstGeom prst="rect">
            <a:avLst/>
          </a:prstGeom>
        </p:spPr>
        <p:style>
          <a:lnRef idx="0">
            <a:schemeClr val="accent3"/>
          </a:lnRef>
          <a:fillRef idx="3">
            <a:schemeClr val="accent3"/>
          </a:fillRef>
          <a:effectRef idx="3">
            <a:schemeClr val="accent3"/>
          </a:effectRef>
          <a:fontRef idx="minor">
            <a:schemeClr val="lt1"/>
          </a:fontRef>
        </p:style>
        <p:txBody>
          <a:bodyPr rtlCol="0" anchor="ctr"/>
          <a:lstStyle/>
          <a:p>
            <a:r>
              <a:rPr lang="en-IN" sz="2800" b="1" dirty="0">
                <a:solidFill>
                  <a:srgbClr val="800000"/>
                </a:solidFill>
                <a:latin typeface="Times New Roman" panose="02020603050405020304" pitchFamily="18" charset="0"/>
                <a:cs typeface="Times New Roman" panose="02020603050405020304" pitchFamily="18" charset="0"/>
              </a:rPr>
              <a:t>Course Outcome</a:t>
            </a:r>
            <a:endParaRPr lang="en-IN" b="1" dirty="0">
              <a:solidFill>
                <a:srgbClr val="800000"/>
              </a:solidFill>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44841" y="-18389"/>
            <a:ext cx="2057680" cy="798924"/>
          </a:xfrm>
          <a:prstGeom prst="rect">
            <a:avLst/>
          </a:prstGeom>
        </p:spPr>
      </p:pic>
      <p:sp>
        <p:nvSpPr>
          <p:cNvPr id="4" name="TextBox 3"/>
          <p:cNvSpPr txBox="1"/>
          <p:nvPr/>
        </p:nvSpPr>
        <p:spPr>
          <a:xfrm>
            <a:off x="478118" y="1195294"/>
            <a:ext cx="10673976" cy="4613058"/>
          </a:xfrm>
          <a:prstGeom prst="rect">
            <a:avLst/>
          </a:prstGeom>
          <a:noFill/>
        </p:spPr>
        <p:txBody>
          <a:bodyPr wrap="square" rtlCol="0">
            <a:spAutoFit/>
          </a:bodyPr>
          <a:lstStyle/>
          <a:p>
            <a:pPr marL="285750" indent="-285750">
              <a:lnSpc>
                <a:spcPct val="150000"/>
              </a:lnSpc>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Proficiency in Data Structures: </a:t>
            </a:r>
            <a:r>
              <a:rPr lang="en-US" dirty="0">
                <a:latin typeface="Times New Roman" panose="02020603050405020304" pitchFamily="18" charset="0"/>
                <a:cs typeface="Times New Roman" panose="02020603050405020304" pitchFamily="18" charset="0"/>
              </a:rPr>
              <a:t>Develop a deep understanding of advanced data structures such as linked lists, queues, stacks, trees, and graphs, and effectively implement them in programming.</a:t>
            </a:r>
          </a:p>
          <a:p>
            <a:pPr marL="285750" indent="-285750">
              <a:lnSpc>
                <a:spcPct val="150000"/>
              </a:lnSpc>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Dynamic Programming Mastery: </a:t>
            </a:r>
            <a:r>
              <a:rPr lang="en-US" dirty="0">
                <a:latin typeface="Times New Roman" panose="02020603050405020304" pitchFamily="18" charset="0"/>
                <a:cs typeface="Times New Roman" panose="02020603050405020304" pitchFamily="18" charset="0"/>
              </a:rPr>
              <a:t>Apply dynamic programming techniques to solve optimization problems and complex coding challenges efficiently.</a:t>
            </a:r>
          </a:p>
          <a:p>
            <a:pPr marL="285750" indent="-285750">
              <a:lnSpc>
                <a:spcPct val="150000"/>
              </a:lnSpc>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Improved Problem-Solving Skills:</a:t>
            </a:r>
            <a:r>
              <a:rPr lang="en-US" dirty="0">
                <a:latin typeface="Times New Roman" panose="02020603050405020304" pitchFamily="18" charset="0"/>
                <a:cs typeface="Times New Roman" panose="02020603050405020304" pitchFamily="18" charset="0"/>
              </a:rPr>
              <a:t> Enhance logical thinking and analytical skills to approach and solve competitive programming problems.</a:t>
            </a:r>
          </a:p>
          <a:p>
            <a:pPr marL="285750" indent="-285750">
              <a:lnSpc>
                <a:spcPct val="150000"/>
              </a:lnSpc>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Algorithm Optimization: </a:t>
            </a:r>
            <a:r>
              <a:rPr lang="en-US" dirty="0">
                <a:latin typeface="Times New Roman" panose="02020603050405020304" pitchFamily="18" charset="0"/>
                <a:cs typeface="Times New Roman" panose="02020603050405020304" pitchFamily="18" charset="0"/>
              </a:rPr>
              <a:t>Learn to optimize algorithms for time and space efficiency in real-world scenarios.</a:t>
            </a:r>
          </a:p>
          <a:p>
            <a:pPr marL="285750" indent="-285750">
              <a:lnSpc>
                <a:spcPct val="150000"/>
              </a:lnSpc>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Readiness for Competitive Programming: </a:t>
            </a:r>
            <a:r>
              <a:rPr lang="en-US" dirty="0">
                <a:latin typeface="Times New Roman" panose="02020603050405020304" pitchFamily="18" charset="0"/>
                <a:cs typeface="Times New Roman" panose="02020603050405020304" pitchFamily="18" charset="0"/>
              </a:rPr>
              <a:t>Build confidence and expertise to participate in coding competitions by solving diverse and challenging problems.</a:t>
            </a:r>
          </a:p>
          <a:p>
            <a:pPr marL="285750" indent="-285750">
              <a:lnSpc>
                <a:spcPct val="150000"/>
              </a:lnSpc>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Practical Application: </a:t>
            </a:r>
            <a:r>
              <a:rPr lang="en-US" dirty="0">
                <a:latin typeface="Times New Roman" panose="02020603050405020304" pitchFamily="18" charset="0"/>
                <a:cs typeface="Times New Roman" panose="02020603050405020304" pitchFamily="18" charset="0"/>
              </a:rPr>
              <a:t>Gain hands-on experience in coding with a focus on practical problem-solving using data structures and algorithms.</a:t>
            </a:r>
            <a:endParaRPr lang="en-IN" dirty="0">
              <a:latin typeface="Times New Roman" panose="02020603050405020304" pitchFamily="18" charset="0"/>
              <a:cs typeface="Times New Roman" panose="02020603050405020304" pitchFamily="18" charset="0"/>
            </a:endParaRPr>
          </a:p>
        </p:txBody>
      </p:sp>
      <p:pic>
        <p:nvPicPr>
          <p:cNvPr id="5" name="Picture 2">
            <a:extLst>
              <a:ext uri="{FF2B5EF4-FFF2-40B4-BE49-F238E27FC236}">
                <a16:creationId xmlns:a16="http://schemas.microsoft.com/office/drawing/2014/main" id="{1E8691AB-019C-52F4-FD6A-38E23016C5A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66823" y="6206248"/>
            <a:ext cx="1905000" cy="2381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354229" y="5782694"/>
            <a:ext cx="1730188" cy="369332"/>
          </a:xfrm>
          <a:prstGeom prst="rect">
            <a:avLst/>
          </a:prstGeom>
          <a:noFill/>
          <a:ln>
            <a:solidFill>
              <a:srgbClr val="C00000"/>
            </a:solidFill>
          </a:ln>
        </p:spPr>
        <p:txBody>
          <a:bodyPr wrap="square" rtlCol="0">
            <a:spAutoFit/>
          </a:bodyPr>
          <a:lstStyle/>
          <a:p>
            <a:endParaRPr lang="en-IN" dirty="0"/>
          </a:p>
        </p:txBody>
      </p:sp>
      <p:sp>
        <p:nvSpPr>
          <p:cNvPr id="3" name="Rectangle 2"/>
          <p:cNvSpPr/>
          <p:nvPr/>
        </p:nvSpPr>
        <p:spPr>
          <a:xfrm>
            <a:off x="0" y="0"/>
            <a:ext cx="12192000" cy="705224"/>
          </a:xfrm>
          <a:prstGeom prst="rect">
            <a:avLst/>
          </a:prstGeom>
        </p:spPr>
        <p:style>
          <a:lnRef idx="0">
            <a:schemeClr val="accent3"/>
          </a:lnRef>
          <a:fillRef idx="3">
            <a:schemeClr val="accent3"/>
          </a:fillRef>
          <a:effectRef idx="3">
            <a:schemeClr val="accent3"/>
          </a:effectRef>
          <a:fontRef idx="minor">
            <a:schemeClr val="lt1"/>
          </a:fontRef>
        </p:style>
        <p:txBody>
          <a:bodyPr rtlCol="0" anchor="ctr"/>
          <a:lstStyle/>
          <a:p>
            <a:r>
              <a:rPr lang="en-IN" sz="2800" b="1" dirty="0">
                <a:solidFill>
                  <a:srgbClr val="800000"/>
                </a:solidFill>
                <a:latin typeface="Times New Roman" panose="02020603050405020304" pitchFamily="18" charset="0"/>
                <a:cs typeface="Times New Roman" panose="02020603050405020304" pitchFamily="18" charset="0"/>
              </a:rPr>
              <a:t>Reference Materials</a:t>
            </a:r>
            <a:endParaRPr lang="en-IN" b="1" dirty="0">
              <a:solidFill>
                <a:srgbClr val="800000"/>
              </a:solidFill>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44841" y="-18389"/>
            <a:ext cx="2057680" cy="798924"/>
          </a:xfrm>
          <a:prstGeom prst="rect">
            <a:avLst/>
          </a:prstGeom>
        </p:spPr>
      </p:pic>
      <p:sp>
        <p:nvSpPr>
          <p:cNvPr id="4" name="TextBox 3"/>
          <p:cNvSpPr txBox="1"/>
          <p:nvPr/>
        </p:nvSpPr>
        <p:spPr>
          <a:xfrm>
            <a:off x="478118" y="1195294"/>
            <a:ext cx="10673976" cy="646331"/>
          </a:xfrm>
          <a:prstGeom prst="rect">
            <a:avLst/>
          </a:prstGeom>
          <a:noFill/>
        </p:spPr>
        <p:txBody>
          <a:bodyPr wrap="square" rtlCol="0">
            <a:spAutoFit/>
          </a:bodyPr>
          <a:lstStyle/>
          <a:p>
            <a:pPr marL="285750" indent="-285750">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The Reference materials will be directly shared to your VTOP and other materials needed will be shared by the faculty to your mails directly. </a:t>
            </a:r>
          </a:p>
        </p:txBody>
      </p:sp>
      <p:pic>
        <p:nvPicPr>
          <p:cNvPr id="6" name="Picture 2">
            <a:extLst>
              <a:ext uri="{FF2B5EF4-FFF2-40B4-BE49-F238E27FC236}">
                <a16:creationId xmlns:a16="http://schemas.microsoft.com/office/drawing/2014/main" id="{C3C7E928-FC60-12C6-263C-13473140E63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354229" y="5848298"/>
            <a:ext cx="1905000" cy="2381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2000" cy="705224"/>
          </a:xfrm>
          <a:prstGeom prst="rect">
            <a:avLst/>
          </a:prstGeom>
        </p:spPr>
        <p:style>
          <a:lnRef idx="0">
            <a:schemeClr val="accent3"/>
          </a:lnRef>
          <a:fillRef idx="3">
            <a:schemeClr val="accent3"/>
          </a:fillRef>
          <a:effectRef idx="3">
            <a:schemeClr val="accent3"/>
          </a:effectRef>
          <a:fontRef idx="minor">
            <a:schemeClr val="lt1"/>
          </a:fontRef>
        </p:style>
        <p:txBody>
          <a:bodyPr rtlCol="0" anchor="ctr"/>
          <a:lstStyle/>
          <a:p>
            <a:r>
              <a:rPr lang="en-IN" sz="2800" b="1" dirty="0">
                <a:solidFill>
                  <a:srgbClr val="800000"/>
                </a:solidFill>
                <a:latin typeface="Times New Roman" panose="02020603050405020304" pitchFamily="18" charset="0"/>
                <a:cs typeface="Times New Roman" panose="02020603050405020304" pitchFamily="18" charset="0"/>
              </a:rPr>
              <a:t>Tentative Evaluation Policy and Grading Criteria</a:t>
            </a:r>
            <a:endParaRPr lang="en-IN" b="1" dirty="0">
              <a:solidFill>
                <a:srgbClr val="800000"/>
              </a:solidFill>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44841" y="-18389"/>
            <a:ext cx="2057680" cy="798924"/>
          </a:xfrm>
          <a:prstGeom prst="rect">
            <a:avLst/>
          </a:prstGeom>
        </p:spPr>
      </p:pic>
      <p:graphicFrame>
        <p:nvGraphicFramePr>
          <p:cNvPr id="5" name="Table 4"/>
          <p:cNvGraphicFramePr>
            <a:graphicFrameLocks noGrp="1"/>
          </p:cNvGraphicFramePr>
          <p:nvPr>
            <p:extLst>
              <p:ext uri="{D42A27DB-BD31-4B8C-83A1-F6EECF244321}">
                <p14:modId xmlns:p14="http://schemas.microsoft.com/office/powerpoint/2010/main" val="434060139"/>
              </p:ext>
            </p:extLst>
          </p:nvPr>
        </p:nvGraphicFramePr>
        <p:xfrm>
          <a:off x="424329" y="842689"/>
          <a:ext cx="11238936" cy="2021840"/>
        </p:xfrm>
        <a:graphic>
          <a:graphicData uri="http://schemas.openxmlformats.org/drawingml/2006/table">
            <a:tbl>
              <a:tblPr firstRow="1" bandRow="1">
                <a:tableStyleId>{5C22544A-7EE6-4342-B048-85BDC9FD1C3A}</a:tableStyleId>
              </a:tblPr>
              <a:tblGrid>
                <a:gridCol w="2086983">
                  <a:extLst>
                    <a:ext uri="{9D8B030D-6E8A-4147-A177-3AD203B41FA5}">
                      <a16:colId xmlns:a16="http://schemas.microsoft.com/office/drawing/2014/main" val="20000"/>
                    </a:ext>
                  </a:extLst>
                </a:gridCol>
                <a:gridCol w="2086983">
                  <a:extLst>
                    <a:ext uri="{9D8B030D-6E8A-4147-A177-3AD203B41FA5}">
                      <a16:colId xmlns:a16="http://schemas.microsoft.com/office/drawing/2014/main" val="20001"/>
                    </a:ext>
                  </a:extLst>
                </a:gridCol>
                <a:gridCol w="2086983">
                  <a:extLst>
                    <a:ext uri="{9D8B030D-6E8A-4147-A177-3AD203B41FA5}">
                      <a16:colId xmlns:a16="http://schemas.microsoft.com/office/drawing/2014/main" val="20002"/>
                    </a:ext>
                  </a:extLst>
                </a:gridCol>
                <a:gridCol w="2086983">
                  <a:extLst>
                    <a:ext uri="{9D8B030D-6E8A-4147-A177-3AD203B41FA5}">
                      <a16:colId xmlns:a16="http://schemas.microsoft.com/office/drawing/2014/main" val="20003"/>
                    </a:ext>
                  </a:extLst>
                </a:gridCol>
                <a:gridCol w="2891004">
                  <a:extLst>
                    <a:ext uri="{9D8B030D-6E8A-4147-A177-3AD203B41FA5}">
                      <a16:colId xmlns:a16="http://schemas.microsoft.com/office/drawing/2014/main" val="20004"/>
                    </a:ext>
                  </a:extLst>
                </a:gridCol>
              </a:tblGrid>
              <a:tr h="370840">
                <a:tc gridSpan="3">
                  <a:txBody>
                    <a:bodyPr/>
                    <a:lstStyle/>
                    <a:p>
                      <a:r>
                        <a:rPr lang="en-IN" dirty="0">
                          <a:solidFill>
                            <a:schemeClr val="tx1">
                              <a:lumMod val="95000"/>
                              <a:lumOff val="5000"/>
                            </a:schemeClr>
                          </a:solidFill>
                          <a:latin typeface="Times New Roman" panose="02020603050405020304" pitchFamily="18" charset="0"/>
                          <a:cs typeface="Times New Roman" panose="02020603050405020304" pitchFamily="18" charset="0"/>
                        </a:rPr>
                        <a:t>Assessment Tests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IN" dirty="0">
                          <a:solidFill>
                            <a:schemeClr val="tx1">
                              <a:lumMod val="95000"/>
                              <a:lumOff val="5000"/>
                            </a:schemeClr>
                          </a:solidFill>
                          <a:latin typeface="Times New Roman" panose="02020603050405020304" pitchFamily="18" charset="0"/>
                          <a:cs typeface="Times New Roman" panose="02020603050405020304" pitchFamily="18" charset="0"/>
                        </a:rPr>
                        <a:t>Weightage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solidFill>
                            <a:schemeClr val="tx1">
                              <a:lumMod val="95000"/>
                              <a:lumOff val="5000"/>
                            </a:schemeClr>
                          </a:solidFill>
                          <a:latin typeface="Times New Roman" panose="02020603050405020304" pitchFamily="18" charset="0"/>
                          <a:cs typeface="Times New Roman" panose="02020603050405020304" pitchFamily="18" charset="0"/>
                        </a:rPr>
                        <a:t>70%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r>
                        <a:rPr lang="en-IN" dirty="0">
                          <a:solidFill>
                            <a:schemeClr val="tx1">
                              <a:lumMod val="95000"/>
                              <a:lumOff val="5000"/>
                            </a:schemeClr>
                          </a:solidFill>
                          <a:latin typeface="Times New Roman" panose="02020603050405020304" pitchFamily="18" charset="0"/>
                          <a:cs typeface="Times New Roman" panose="02020603050405020304" pitchFamily="18" charset="0"/>
                        </a:rPr>
                        <a:t>Type of Exam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solidFill>
                            <a:schemeClr val="tx1">
                              <a:lumMod val="95000"/>
                              <a:lumOff val="5000"/>
                            </a:schemeClr>
                          </a:solidFill>
                          <a:latin typeface="Times New Roman" panose="02020603050405020304" pitchFamily="18" charset="0"/>
                          <a:cs typeface="Times New Roman" panose="02020603050405020304" pitchFamily="18" charset="0"/>
                        </a:rPr>
                        <a:t>Total Marks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solidFill>
                            <a:schemeClr val="tx1">
                              <a:lumMod val="95000"/>
                              <a:lumOff val="5000"/>
                            </a:schemeClr>
                          </a:solidFill>
                          <a:latin typeface="Times New Roman" panose="02020603050405020304" pitchFamily="18" charset="0"/>
                          <a:cs typeface="Times New Roman" panose="02020603050405020304" pitchFamily="18" charset="0"/>
                        </a:rPr>
                        <a:t>Weightage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solidFill>
                            <a:schemeClr val="tx1">
                              <a:lumMod val="95000"/>
                              <a:lumOff val="5000"/>
                            </a:schemeClr>
                          </a:solidFill>
                          <a:latin typeface="Times New Roman" panose="02020603050405020304" pitchFamily="18" charset="0"/>
                          <a:cs typeface="Times New Roman" panose="02020603050405020304" pitchFamily="18" charset="0"/>
                        </a:rPr>
                        <a:t>Duration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solidFill>
                            <a:schemeClr val="tx1">
                              <a:lumMod val="95000"/>
                              <a:lumOff val="5000"/>
                            </a:schemeClr>
                          </a:solidFill>
                          <a:latin typeface="Times New Roman" panose="02020603050405020304" pitchFamily="18" charset="0"/>
                          <a:cs typeface="Times New Roman" panose="02020603050405020304" pitchFamily="18" charset="0"/>
                        </a:rPr>
                        <a:t>Number of Question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IN" dirty="0">
                          <a:solidFill>
                            <a:schemeClr val="tx1">
                              <a:lumMod val="95000"/>
                              <a:lumOff val="5000"/>
                            </a:schemeClr>
                          </a:solidFill>
                          <a:latin typeface="Times New Roman" panose="02020603050405020304" pitchFamily="18" charset="0"/>
                          <a:cs typeface="Times New Roman" panose="02020603050405020304" pitchFamily="18" charset="0"/>
                        </a:rPr>
                        <a:t>CAT 1 + CAT2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solidFill>
                            <a:schemeClr val="tx1">
                              <a:lumMod val="95000"/>
                              <a:lumOff val="5000"/>
                            </a:schemeClr>
                          </a:solidFill>
                          <a:highlight>
                            <a:srgbClr val="00FFFF"/>
                          </a:highlight>
                          <a:latin typeface="Times New Roman" panose="02020603050405020304" pitchFamily="18" charset="0"/>
                          <a:cs typeface="Times New Roman" panose="02020603050405020304" pitchFamily="18" charset="0"/>
                        </a:rPr>
                        <a:t>50 </a:t>
                      </a:r>
                      <a:endParaRPr lang="en-IN" dirty="0">
                        <a:solidFill>
                          <a:schemeClr val="tx1">
                            <a:lumMod val="95000"/>
                            <a:lumOff val="5000"/>
                          </a:schemeClr>
                        </a:solidFill>
                        <a:highlight>
                          <a:srgbClr val="00FFFF"/>
                        </a:highlight>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solidFill>
                            <a:schemeClr val="tx1">
                              <a:lumMod val="95000"/>
                              <a:lumOff val="5000"/>
                            </a:schemeClr>
                          </a:solidFill>
                          <a:highlight>
                            <a:srgbClr val="00FFFF"/>
                          </a:highlight>
                          <a:latin typeface="Times New Roman" panose="02020603050405020304" pitchFamily="18" charset="0"/>
                          <a:cs typeface="Times New Roman" panose="02020603050405020304" pitchFamily="18" charset="0"/>
                        </a:rPr>
                        <a:t>15%CAT1 + 15% CAT2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solidFill>
                            <a:schemeClr val="tx1">
                              <a:lumMod val="95000"/>
                              <a:lumOff val="5000"/>
                            </a:schemeClr>
                          </a:solidFill>
                          <a:highlight>
                            <a:srgbClr val="00FFFF"/>
                          </a:highlight>
                          <a:latin typeface="Times New Roman" panose="02020603050405020304" pitchFamily="18" charset="0"/>
                          <a:cs typeface="Times New Roman" panose="02020603050405020304" pitchFamily="18" charset="0"/>
                        </a:rPr>
                        <a:t>1 Hour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solidFill>
                            <a:schemeClr val="tx1">
                              <a:lumMod val="95000"/>
                              <a:lumOff val="5000"/>
                            </a:schemeClr>
                          </a:solidFill>
                          <a:highlight>
                            <a:srgbClr val="00FFFF"/>
                          </a:highlight>
                          <a:latin typeface="Times New Roman" panose="02020603050405020304" pitchFamily="18" charset="0"/>
                          <a:cs typeface="Times New Roman" panose="02020603050405020304" pitchFamily="18" charset="0"/>
                        </a:rPr>
                        <a:t>1</a:t>
                      </a:r>
                      <a:r>
                        <a:rPr lang="en-IN" dirty="0">
                          <a:solidFill>
                            <a:schemeClr val="tx1">
                              <a:lumMod val="95000"/>
                              <a:lumOff val="5000"/>
                            </a:schemeClr>
                          </a:solidFill>
                          <a:highlight>
                            <a:srgbClr val="00FFFF"/>
                          </a:highlight>
                          <a:latin typeface="Times New Roman" panose="02020603050405020304" pitchFamily="18" charset="0"/>
                          <a:cs typeface="Times New Roman" panose="02020603050405020304" pitchFamily="18" charset="0"/>
                        </a:rPr>
                        <a:t>0 MCQS+2 Coding Questions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r>
                        <a:rPr lang="en-IN" dirty="0">
                          <a:solidFill>
                            <a:schemeClr val="tx1">
                              <a:lumMod val="95000"/>
                              <a:lumOff val="5000"/>
                            </a:schemeClr>
                          </a:solidFill>
                          <a:latin typeface="Times New Roman" panose="02020603050405020304" pitchFamily="18" charset="0"/>
                          <a:cs typeface="Times New Roman" panose="02020603050405020304" pitchFamily="18" charset="0"/>
                        </a:rPr>
                        <a:t>FAT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solidFill>
                            <a:schemeClr val="tx1">
                              <a:lumMod val="95000"/>
                              <a:lumOff val="5000"/>
                            </a:schemeClr>
                          </a:solidFill>
                          <a:highlight>
                            <a:srgbClr val="00FFFF"/>
                          </a:highlight>
                          <a:latin typeface="Times New Roman" panose="02020603050405020304" pitchFamily="18" charset="0"/>
                          <a:cs typeface="Times New Roman" panose="02020603050405020304" pitchFamily="18" charset="0"/>
                        </a:rPr>
                        <a:t>1</a:t>
                      </a:r>
                      <a:r>
                        <a:rPr lang="en-IN" dirty="0">
                          <a:solidFill>
                            <a:schemeClr val="tx1">
                              <a:lumMod val="95000"/>
                              <a:lumOff val="5000"/>
                            </a:schemeClr>
                          </a:solidFill>
                          <a:highlight>
                            <a:srgbClr val="00FFFF"/>
                          </a:highlight>
                          <a:latin typeface="Times New Roman" panose="02020603050405020304" pitchFamily="18" charset="0"/>
                          <a:cs typeface="Times New Roman" panose="02020603050405020304" pitchFamily="18" charset="0"/>
                        </a:rPr>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solidFill>
                            <a:schemeClr val="tx1">
                              <a:lumMod val="95000"/>
                              <a:lumOff val="5000"/>
                            </a:schemeClr>
                          </a:solidFill>
                          <a:highlight>
                            <a:srgbClr val="00FFFF"/>
                          </a:highlight>
                          <a:latin typeface="Times New Roman" panose="02020603050405020304" pitchFamily="18" charset="0"/>
                          <a:cs typeface="Times New Roman" panose="02020603050405020304" pitchFamily="18" charset="0"/>
                        </a:rPr>
                        <a:t>40%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solidFill>
                            <a:schemeClr val="tx1">
                              <a:lumMod val="95000"/>
                              <a:lumOff val="5000"/>
                            </a:schemeClr>
                          </a:solidFill>
                          <a:highlight>
                            <a:srgbClr val="00FFFF"/>
                          </a:highlight>
                          <a:latin typeface="Times New Roman" panose="02020603050405020304" pitchFamily="18" charset="0"/>
                          <a:cs typeface="Times New Roman" panose="02020603050405020304" pitchFamily="18" charset="0"/>
                        </a:rPr>
                        <a:t>1 Hour 30 Minutes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solidFill>
                            <a:schemeClr val="tx1">
                              <a:lumMod val="95000"/>
                              <a:lumOff val="5000"/>
                            </a:schemeClr>
                          </a:solidFill>
                          <a:highlight>
                            <a:srgbClr val="00FFFF"/>
                          </a:highlight>
                          <a:latin typeface="Times New Roman" panose="02020603050405020304" pitchFamily="18" charset="0"/>
                          <a:cs typeface="Times New Roman" panose="02020603050405020304" pitchFamily="18" charset="0"/>
                        </a:rPr>
                        <a:t>3</a:t>
                      </a:r>
                      <a:r>
                        <a:rPr lang="en-IN" dirty="0">
                          <a:solidFill>
                            <a:schemeClr val="tx1">
                              <a:lumMod val="95000"/>
                              <a:lumOff val="5000"/>
                            </a:schemeClr>
                          </a:solidFill>
                          <a:highlight>
                            <a:srgbClr val="00FFFF"/>
                          </a:highlight>
                          <a:latin typeface="Times New Roman" panose="02020603050405020304" pitchFamily="18" charset="0"/>
                          <a:cs typeface="Times New Roman" panose="02020603050405020304" pitchFamily="18" charset="0"/>
                        </a:rPr>
                        <a:t>0 MCQS+2 Coding Questions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4148333833"/>
              </p:ext>
            </p:extLst>
          </p:nvPr>
        </p:nvGraphicFramePr>
        <p:xfrm>
          <a:off x="421343" y="3139214"/>
          <a:ext cx="11148615" cy="2468880"/>
        </p:xfrm>
        <a:graphic>
          <a:graphicData uri="http://schemas.openxmlformats.org/drawingml/2006/table">
            <a:tbl>
              <a:tblPr firstRow="1" bandRow="1">
                <a:tableStyleId>{5C22544A-7EE6-4342-B048-85BDC9FD1C3A}</a:tableStyleId>
              </a:tblPr>
              <a:tblGrid>
                <a:gridCol w="2229723">
                  <a:extLst>
                    <a:ext uri="{9D8B030D-6E8A-4147-A177-3AD203B41FA5}">
                      <a16:colId xmlns:a16="http://schemas.microsoft.com/office/drawing/2014/main" val="20000"/>
                    </a:ext>
                  </a:extLst>
                </a:gridCol>
                <a:gridCol w="2229723">
                  <a:extLst>
                    <a:ext uri="{9D8B030D-6E8A-4147-A177-3AD203B41FA5}">
                      <a16:colId xmlns:a16="http://schemas.microsoft.com/office/drawing/2014/main" val="20001"/>
                    </a:ext>
                  </a:extLst>
                </a:gridCol>
                <a:gridCol w="2229723">
                  <a:extLst>
                    <a:ext uri="{9D8B030D-6E8A-4147-A177-3AD203B41FA5}">
                      <a16:colId xmlns:a16="http://schemas.microsoft.com/office/drawing/2014/main" val="20002"/>
                    </a:ext>
                  </a:extLst>
                </a:gridCol>
                <a:gridCol w="2229723">
                  <a:extLst>
                    <a:ext uri="{9D8B030D-6E8A-4147-A177-3AD203B41FA5}">
                      <a16:colId xmlns:a16="http://schemas.microsoft.com/office/drawing/2014/main" val="20003"/>
                    </a:ext>
                  </a:extLst>
                </a:gridCol>
                <a:gridCol w="2229723">
                  <a:extLst>
                    <a:ext uri="{9D8B030D-6E8A-4147-A177-3AD203B41FA5}">
                      <a16:colId xmlns:a16="http://schemas.microsoft.com/office/drawing/2014/main" val="20004"/>
                    </a:ext>
                  </a:extLst>
                </a:gridCol>
              </a:tblGrid>
              <a:tr h="317423">
                <a:tc gridSpan="3">
                  <a:txBody>
                    <a:bodyPr/>
                    <a:lstStyle/>
                    <a:p>
                      <a:r>
                        <a:rPr lang="en-IN" dirty="0">
                          <a:solidFill>
                            <a:schemeClr val="tx1">
                              <a:lumMod val="95000"/>
                              <a:lumOff val="5000"/>
                            </a:schemeClr>
                          </a:solidFill>
                          <a:latin typeface="Times New Roman" panose="02020603050405020304" pitchFamily="18" charset="0"/>
                          <a:cs typeface="Times New Roman" panose="02020603050405020304" pitchFamily="18" charset="0"/>
                        </a:rPr>
                        <a:t>Internal Assessments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IN" dirty="0">
                          <a:solidFill>
                            <a:schemeClr val="tx1">
                              <a:lumMod val="95000"/>
                              <a:lumOff val="5000"/>
                            </a:schemeClr>
                          </a:solidFill>
                          <a:latin typeface="Times New Roman" panose="02020603050405020304" pitchFamily="18" charset="0"/>
                          <a:cs typeface="Times New Roman" panose="02020603050405020304" pitchFamily="18" charset="0"/>
                        </a:rPr>
                        <a:t>Weightage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solidFill>
                            <a:schemeClr val="tx1">
                              <a:lumMod val="95000"/>
                              <a:lumOff val="5000"/>
                            </a:schemeClr>
                          </a:solidFill>
                          <a:latin typeface="Times New Roman" panose="02020603050405020304" pitchFamily="18" charset="0"/>
                          <a:cs typeface="Times New Roman" panose="02020603050405020304" pitchFamily="18" charset="0"/>
                        </a:rPr>
                        <a:t>30%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17423">
                <a:tc>
                  <a:txBody>
                    <a:bodyPr/>
                    <a:lstStyle/>
                    <a:p>
                      <a:r>
                        <a:rPr lang="en-IN" dirty="0">
                          <a:solidFill>
                            <a:schemeClr val="tx1">
                              <a:lumMod val="95000"/>
                              <a:lumOff val="5000"/>
                            </a:schemeClr>
                          </a:solidFill>
                          <a:latin typeface="Times New Roman" panose="02020603050405020304" pitchFamily="18" charset="0"/>
                          <a:cs typeface="Times New Roman" panose="02020603050405020304" pitchFamily="18" charset="0"/>
                        </a:rPr>
                        <a:t>Type of Assessment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solidFill>
                            <a:schemeClr val="tx1">
                              <a:lumMod val="95000"/>
                              <a:lumOff val="5000"/>
                            </a:schemeClr>
                          </a:solidFill>
                          <a:latin typeface="Times New Roman" panose="02020603050405020304" pitchFamily="18" charset="0"/>
                          <a:cs typeface="Times New Roman" panose="02020603050405020304" pitchFamily="18" charset="0"/>
                        </a:rPr>
                        <a:t>Total Marks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solidFill>
                            <a:schemeClr val="tx1">
                              <a:lumMod val="95000"/>
                              <a:lumOff val="5000"/>
                            </a:schemeClr>
                          </a:solidFill>
                          <a:latin typeface="Times New Roman" panose="02020603050405020304" pitchFamily="18" charset="0"/>
                          <a:cs typeface="Times New Roman" panose="02020603050405020304" pitchFamily="18" charset="0"/>
                        </a:rPr>
                        <a:t>Weightage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r>
                        <a:rPr lang="en-IN" dirty="0">
                          <a:solidFill>
                            <a:schemeClr val="tx1">
                              <a:lumMod val="95000"/>
                              <a:lumOff val="5000"/>
                            </a:schemeClr>
                          </a:solidFill>
                          <a:latin typeface="Times New Roman" panose="02020603050405020304" pitchFamily="18" charset="0"/>
                          <a:cs typeface="Times New Roman" panose="02020603050405020304" pitchFamily="18" charset="0"/>
                        </a:rPr>
                        <a:t>Remarks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17423">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IN" dirty="0">
                          <a:solidFill>
                            <a:schemeClr val="tx1">
                              <a:lumMod val="95000"/>
                              <a:lumOff val="5000"/>
                            </a:schemeClr>
                          </a:solidFill>
                          <a:latin typeface="Times New Roman" panose="02020603050405020304" pitchFamily="18" charset="0"/>
                          <a:cs typeface="Times New Roman" panose="02020603050405020304" pitchFamily="18" charset="0"/>
                        </a:rPr>
                        <a:t>Quiz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solidFill>
                            <a:schemeClr val="tx1">
                              <a:lumMod val="95000"/>
                              <a:lumOff val="5000"/>
                            </a:schemeClr>
                          </a:solidFill>
                          <a:highlight>
                            <a:srgbClr val="00FFFF"/>
                          </a:highlight>
                          <a:latin typeface="Times New Roman" panose="02020603050405020304" pitchFamily="18" charset="0"/>
                          <a:cs typeface="Times New Roman" panose="02020603050405020304" pitchFamily="18" charset="0"/>
                        </a:rPr>
                        <a:t>2</a:t>
                      </a:r>
                      <a:r>
                        <a:rPr lang="en-IN" dirty="0">
                          <a:solidFill>
                            <a:schemeClr val="tx1">
                              <a:lumMod val="95000"/>
                              <a:lumOff val="5000"/>
                            </a:schemeClr>
                          </a:solidFill>
                          <a:highlight>
                            <a:srgbClr val="00FFFF"/>
                          </a:highlight>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solidFill>
                            <a:schemeClr val="tx1">
                              <a:lumMod val="95000"/>
                              <a:lumOff val="5000"/>
                            </a:schemeClr>
                          </a:solidFill>
                          <a:highlight>
                            <a:srgbClr val="00FFFF"/>
                          </a:highlight>
                          <a:latin typeface="Times New Roman" panose="02020603050405020304" pitchFamily="18" charset="0"/>
                          <a:cs typeface="Times New Roman" panose="02020603050405020304" pitchFamily="18" charset="0"/>
                        </a:rPr>
                        <a:t>10 %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IN" dirty="0">
                          <a:solidFill>
                            <a:schemeClr val="tx1">
                              <a:lumMod val="95000"/>
                              <a:lumOff val="5000"/>
                            </a:schemeClr>
                          </a:solidFill>
                          <a:latin typeface="Times New Roman" panose="02020603050405020304" pitchFamily="18" charset="0"/>
                          <a:cs typeface="Times New Roman" panose="02020603050405020304" pitchFamily="18" charset="0"/>
                        </a:rPr>
                        <a:t>Tentative 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17423">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IN" dirty="0">
                          <a:solidFill>
                            <a:schemeClr val="tx1">
                              <a:lumMod val="95000"/>
                              <a:lumOff val="5000"/>
                            </a:schemeClr>
                          </a:solidFill>
                          <a:latin typeface="Times New Roman" panose="02020603050405020304" pitchFamily="18" charset="0"/>
                          <a:cs typeface="Times New Roman" panose="02020603050405020304" pitchFamily="18" charset="0"/>
                        </a:rPr>
                        <a:t>Quiz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solidFill>
                            <a:schemeClr val="tx1">
                              <a:lumMod val="95000"/>
                              <a:lumOff val="5000"/>
                            </a:schemeClr>
                          </a:solidFill>
                          <a:highlight>
                            <a:srgbClr val="00FFFF"/>
                          </a:highlight>
                          <a:latin typeface="Times New Roman" panose="02020603050405020304" pitchFamily="18" charset="0"/>
                          <a:cs typeface="Times New Roman" panose="02020603050405020304" pitchFamily="18" charset="0"/>
                        </a:rPr>
                        <a:t>2</a:t>
                      </a:r>
                      <a:r>
                        <a:rPr lang="en-IN" dirty="0">
                          <a:solidFill>
                            <a:schemeClr val="tx1">
                              <a:lumMod val="95000"/>
                              <a:lumOff val="5000"/>
                            </a:schemeClr>
                          </a:solidFill>
                          <a:highlight>
                            <a:srgbClr val="00FFFF"/>
                          </a:highlight>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solidFill>
                            <a:schemeClr val="tx1">
                              <a:lumMod val="95000"/>
                              <a:lumOff val="5000"/>
                            </a:schemeClr>
                          </a:solidFill>
                          <a:highlight>
                            <a:srgbClr val="00FFFF"/>
                          </a:highlight>
                          <a:latin typeface="Times New Roman" panose="02020603050405020304" pitchFamily="18" charset="0"/>
                          <a:cs typeface="Times New Roman" panose="02020603050405020304" pitchFamily="18" charset="0"/>
                        </a:rPr>
                        <a:t>10 %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solidFill>
                            <a:schemeClr val="tx1">
                              <a:lumMod val="95000"/>
                              <a:lumOff val="5000"/>
                            </a:schemeClr>
                          </a:solidFill>
                          <a:latin typeface="Times New Roman" panose="02020603050405020304" pitchFamily="18" charset="0"/>
                          <a:cs typeface="Times New Roman" panose="02020603050405020304" pitchFamily="18" charset="0"/>
                        </a:rPr>
                        <a:t>Tentative 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55549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IN" dirty="0">
                          <a:solidFill>
                            <a:schemeClr val="tx1">
                              <a:lumMod val="95000"/>
                              <a:lumOff val="5000"/>
                            </a:schemeClr>
                          </a:solidFill>
                          <a:latin typeface="Times New Roman" panose="02020603050405020304" pitchFamily="18" charset="0"/>
                          <a:cs typeface="Times New Roman" panose="02020603050405020304" pitchFamily="18" charset="0"/>
                        </a:rPr>
                        <a:t>Assignment(s) + Activities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solidFill>
                            <a:schemeClr val="tx1">
                              <a:lumMod val="95000"/>
                              <a:lumOff val="5000"/>
                            </a:schemeClr>
                          </a:solidFill>
                          <a:highlight>
                            <a:srgbClr val="00FFFF"/>
                          </a:highlight>
                          <a:latin typeface="Times New Roman" panose="02020603050405020304" pitchFamily="18" charset="0"/>
                          <a:cs typeface="Times New Roman" panose="02020603050405020304" pitchFamily="18" charset="0"/>
                        </a:rPr>
                        <a:t>2</a:t>
                      </a:r>
                      <a:r>
                        <a:rPr lang="en-IN" dirty="0">
                          <a:solidFill>
                            <a:schemeClr val="tx1">
                              <a:lumMod val="95000"/>
                              <a:lumOff val="5000"/>
                            </a:schemeClr>
                          </a:solidFill>
                          <a:highlight>
                            <a:srgbClr val="00FFFF"/>
                          </a:highlight>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solidFill>
                            <a:schemeClr val="tx1">
                              <a:lumMod val="95000"/>
                              <a:lumOff val="5000"/>
                            </a:schemeClr>
                          </a:solidFill>
                          <a:highlight>
                            <a:srgbClr val="00FFFF"/>
                          </a:highlight>
                          <a:latin typeface="Times New Roman" panose="02020603050405020304" pitchFamily="18" charset="0"/>
                          <a:cs typeface="Times New Roman" panose="02020603050405020304" pitchFamily="18" charset="0"/>
                        </a:rPr>
                        <a:t>10 %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IN" dirty="0">
                          <a:solidFill>
                            <a:schemeClr val="tx1">
                              <a:lumMod val="95000"/>
                              <a:lumOff val="5000"/>
                            </a:schemeClr>
                          </a:solidFill>
                          <a:latin typeface="Times New Roman" panose="02020603050405020304" pitchFamily="18" charset="0"/>
                          <a:cs typeface="Times New Roman" panose="02020603050405020304" pitchFamily="18" charset="0"/>
                        </a:rPr>
                        <a:t>Tentative Dates will be shared later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53913">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dirty="0">
                        <a:solidFill>
                          <a:schemeClr val="tx1">
                            <a:lumMod val="95000"/>
                            <a:lumOff val="5000"/>
                          </a:schemeClr>
                        </a:solidFill>
                        <a:highlight>
                          <a:srgbClr val="00FFFF"/>
                        </a:highlight>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dirty="0">
                        <a:solidFill>
                          <a:schemeClr val="tx1">
                            <a:lumMod val="95000"/>
                            <a:lumOff val="5000"/>
                          </a:schemeClr>
                        </a:solidFill>
                        <a:highlight>
                          <a:srgbClr val="00FFFF"/>
                        </a:highlight>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sp>
        <p:nvSpPr>
          <p:cNvPr id="8" name="TextBox 7"/>
          <p:cNvSpPr txBox="1"/>
          <p:nvPr/>
        </p:nvSpPr>
        <p:spPr>
          <a:xfrm>
            <a:off x="421343" y="5645220"/>
            <a:ext cx="6768351" cy="923330"/>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Exam Type: Closed Book</a:t>
            </a:r>
          </a:p>
          <a:p>
            <a:r>
              <a:rPr lang="en-IN" dirty="0">
                <a:latin typeface="Times New Roman" panose="02020603050405020304" pitchFamily="18" charset="0"/>
                <a:cs typeface="Times New Roman" panose="02020603050405020304" pitchFamily="18" charset="0"/>
              </a:rPr>
              <a:t>Grading Policy: Absolute</a:t>
            </a:r>
          </a:p>
          <a:p>
            <a:r>
              <a:rPr lang="en-IN" dirty="0">
                <a:latin typeface="Times New Roman" panose="02020603050405020304" pitchFamily="18" charset="0"/>
                <a:cs typeface="Times New Roman" panose="02020603050405020304" pitchFamily="18" charset="0"/>
              </a:rPr>
              <a:t>Pass Criteria: ≥ 50% weightage</a:t>
            </a:r>
          </a:p>
        </p:txBody>
      </p:sp>
      <p:graphicFrame>
        <p:nvGraphicFramePr>
          <p:cNvPr id="10" name="Table 9"/>
          <p:cNvGraphicFramePr>
            <a:graphicFrameLocks noGrp="1"/>
          </p:cNvGraphicFramePr>
          <p:nvPr>
            <p:extLst>
              <p:ext uri="{D42A27DB-BD31-4B8C-83A1-F6EECF244321}">
                <p14:modId xmlns:p14="http://schemas.microsoft.com/office/powerpoint/2010/main" val="3671588329"/>
              </p:ext>
            </p:extLst>
          </p:nvPr>
        </p:nvGraphicFramePr>
        <p:xfrm>
          <a:off x="3557870" y="5682343"/>
          <a:ext cx="6386975" cy="849084"/>
        </p:xfrm>
        <a:graphic>
          <a:graphicData uri="http://schemas.openxmlformats.org/drawingml/2006/table">
            <a:tbl>
              <a:tblPr firstRow="1" bandRow="1">
                <a:tableStyleId>{5C22544A-7EE6-4342-B048-85BDC9FD1C3A}</a:tableStyleId>
              </a:tblPr>
              <a:tblGrid>
                <a:gridCol w="912425">
                  <a:extLst>
                    <a:ext uri="{9D8B030D-6E8A-4147-A177-3AD203B41FA5}">
                      <a16:colId xmlns:a16="http://schemas.microsoft.com/office/drawing/2014/main" val="20000"/>
                    </a:ext>
                  </a:extLst>
                </a:gridCol>
                <a:gridCol w="912425">
                  <a:extLst>
                    <a:ext uri="{9D8B030D-6E8A-4147-A177-3AD203B41FA5}">
                      <a16:colId xmlns:a16="http://schemas.microsoft.com/office/drawing/2014/main" val="20001"/>
                    </a:ext>
                  </a:extLst>
                </a:gridCol>
                <a:gridCol w="912425">
                  <a:extLst>
                    <a:ext uri="{9D8B030D-6E8A-4147-A177-3AD203B41FA5}">
                      <a16:colId xmlns:a16="http://schemas.microsoft.com/office/drawing/2014/main" val="20002"/>
                    </a:ext>
                  </a:extLst>
                </a:gridCol>
                <a:gridCol w="912425">
                  <a:extLst>
                    <a:ext uri="{9D8B030D-6E8A-4147-A177-3AD203B41FA5}">
                      <a16:colId xmlns:a16="http://schemas.microsoft.com/office/drawing/2014/main" val="20003"/>
                    </a:ext>
                  </a:extLst>
                </a:gridCol>
                <a:gridCol w="912425">
                  <a:extLst>
                    <a:ext uri="{9D8B030D-6E8A-4147-A177-3AD203B41FA5}">
                      <a16:colId xmlns:a16="http://schemas.microsoft.com/office/drawing/2014/main" val="20004"/>
                    </a:ext>
                  </a:extLst>
                </a:gridCol>
                <a:gridCol w="912425">
                  <a:extLst>
                    <a:ext uri="{9D8B030D-6E8A-4147-A177-3AD203B41FA5}">
                      <a16:colId xmlns:a16="http://schemas.microsoft.com/office/drawing/2014/main" val="20005"/>
                    </a:ext>
                  </a:extLst>
                </a:gridCol>
                <a:gridCol w="912425">
                  <a:extLst>
                    <a:ext uri="{9D8B030D-6E8A-4147-A177-3AD203B41FA5}">
                      <a16:colId xmlns:a16="http://schemas.microsoft.com/office/drawing/2014/main" val="20006"/>
                    </a:ext>
                  </a:extLst>
                </a:gridCol>
              </a:tblGrid>
              <a:tr h="283028">
                <a:tc gridSpan="7">
                  <a:txBody>
                    <a:bodyPr/>
                    <a:lstStyle/>
                    <a:p>
                      <a:pPr algn="ctr"/>
                      <a:r>
                        <a:rPr lang="en-IN" sz="1200" dirty="0">
                          <a:solidFill>
                            <a:schemeClr val="tx1">
                              <a:lumMod val="95000"/>
                              <a:lumOff val="5000"/>
                            </a:schemeClr>
                          </a:solidFill>
                          <a:latin typeface="Times New Roman" panose="02020603050405020304" pitchFamily="18" charset="0"/>
                          <a:cs typeface="Times New Roman" panose="02020603050405020304" pitchFamily="18" charset="0"/>
                        </a:rPr>
                        <a:t>Absolute Grading Policy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283028">
                <a:tc>
                  <a:txBody>
                    <a:bodyPr/>
                    <a:lstStyle/>
                    <a:p>
                      <a:pPr algn="ctr"/>
                      <a:r>
                        <a:rPr lang="en-IN" sz="1200" dirty="0">
                          <a:solidFill>
                            <a:schemeClr val="tx1">
                              <a:lumMod val="95000"/>
                              <a:lumOff val="5000"/>
                            </a:schemeClr>
                          </a:solidFill>
                          <a:latin typeface="Times New Roman" panose="02020603050405020304" pitchFamily="18" charset="0"/>
                          <a:cs typeface="Times New Roman" panose="02020603050405020304" pitchFamily="18" charset="0"/>
                        </a:rPr>
                        <a: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200" dirty="0">
                          <a:solidFill>
                            <a:schemeClr val="tx1">
                              <a:lumMod val="95000"/>
                              <a:lumOff val="5000"/>
                            </a:schemeClr>
                          </a:solidFill>
                          <a:latin typeface="Times New Roman" panose="02020603050405020304" pitchFamily="18" charset="0"/>
                          <a:cs typeface="Times New Roman" panose="02020603050405020304" pitchFamily="18"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200" dirty="0">
                          <a:solidFill>
                            <a:schemeClr val="tx1">
                              <a:lumMod val="95000"/>
                              <a:lumOff val="5000"/>
                            </a:schemeClr>
                          </a:solidFill>
                          <a:latin typeface="Times New Roman" panose="02020603050405020304" pitchFamily="18" charset="0"/>
                          <a:cs typeface="Times New Roman" panose="02020603050405020304" pitchFamily="18" charset="0"/>
                        </a:rPr>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200" dirty="0">
                          <a:solidFill>
                            <a:schemeClr val="tx1">
                              <a:lumMod val="95000"/>
                              <a:lumOff val="5000"/>
                            </a:schemeClr>
                          </a:solidFill>
                          <a:latin typeface="Times New Roman" panose="02020603050405020304" pitchFamily="18" charset="0"/>
                          <a:cs typeface="Times New Roman" panose="02020603050405020304" pitchFamily="18" charset="0"/>
                        </a:rPr>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200" dirty="0">
                          <a:solidFill>
                            <a:schemeClr val="tx1">
                              <a:lumMod val="95000"/>
                              <a:lumOff val="5000"/>
                            </a:schemeClr>
                          </a:solidFill>
                          <a:latin typeface="Times New Roman" panose="02020603050405020304" pitchFamily="18" charset="0"/>
                          <a:cs typeface="Times New Roman" panose="02020603050405020304" pitchFamily="18" charset="0"/>
                        </a:rPr>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200" dirty="0">
                          <a:solidFill>
                            <a:schemeClr val="tx1">
                              <a:lumMod val="95000"/>
                              <a:lumOff val="5000"/>
                            </a:schemeClr>
                          </a:solidFill>
                          <a:latin typeface="Times New Roman" panose="02020603050405020304" pitchFamily="18" charset="0"/>
                          <a:cs typeface="Times New Roman" panose="02020603050405020304" pitchFamily="18" charset="0"/>
                        </a:rPr>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200" dirty="0">
                          <a:solidFill>
                            <a:schemeClr val="tx1">
                              <a:lumMod val="95000"/>
                              <a:lumOff val="5000"/>
                            </a:schemeClr>
                          </a:solidFill>
                          <a:latin typeface="Times New Roman" panose="02020603050405020304" pitchFamily="18" charset="0"/>
                          <a:cs typeface="Times New Roman" panose="02020603050405020304" pitchFamily="18" charset="0"/>
                        </a:rPr>
                        <a:t>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83028">
                <a:tc>
                  <a:txBody>
                    <a:bodyPr/>
                    <a:lstStyle/>
                    <a:p>
                      <a:pPr algn="ctr"/>
                      <a:r>
                        <a:rPr lang="en-IN" sz="1200" dirty="0">
                          <a:solidFill>
                            <a:schemeClr val="tx1">
                              <a:lumMod val="95000"/>
                              <a:lumOff val="5000"/>
                            </a:schemeClr>
                          </a:solidFill>
                          <a:latin typeface="Times New Roman" panose="02020603050405020304" pitchFamily="18" charset="0"/>
                          <a:cs typeface="Times New Roman" panose="02020603050405020304" pitchFamily="18" charset="0"/>
                        </a:rPr>
                        <a:t>90-100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200" dirty="0">
                          <a:solidFill>
                            <a:schemeClr val="tx1">
                              <a:lumMod val="95000"/>
                              <a:lumOff val="5000"/>
                            </a:schemeClr>
                          </a:solidFill>
                          <a:latin typeface="Times New Roman" panose="02020603050405020304" pitchFamily="18" charset="0"/>
                          <a:cs typeface="Times New Roman" panose="02020603050405020304" pitchFamily="18" charset="0"/>
                        </a:rPr>
                        <a:t>80-89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200" dirty="0">
                          <a:solidFill>
                            <a:schemeClr val="tx1">
                              <a:lumMod val="95000"/>
                              <a:lumOff val="5000"/>
                            </a:schemeClr>
                          </a:solidFill>
                          <a:latin typeface="Times New Roman" panose="02020603050405020304" pitchFamily="18" charset="0"/>
                          <a:cs typeface="Times New Roman" panose="02020603050405020304" pitchFamily="18" charset="0"/>
                        </a:rPr>
                        <a:t>70-79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200" dirty="0">
                          <a:solidFill>
                            <a:schemeClr val="tx1">
                              <a:lumMod val="95000"/>
                              <a:lumOff val="5000"/>
                            </a:schemeClr>
                          </a:solidFill>
                          <a:latin typeface="Times New Roman" panose="02020603050405020304" pitchFamily="18" charset="0"/>
                          <a:cs typeface="Times New Roman" panose="02020603050405020304" pitchFamily="18" charset="0"/>
                        </a:rPr>
                        <a:t>60-69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200" dirty="0">
                          <a:solidFill>
                            <a:schemeClr val="tx1">
                              <a:lumMod val="95000"/>
                              <a:lumOff val="5000"/>
                            </a:schemeClr>
                          </a:solidFill>
                          <a:latin typeface="Times New Roman" panose="02020603050405020304" pitchFamily="18" charset="0"/>
                          <a:cs typeface="Times New Roman" panose="02020603050405020304" pitchFamily="18" charset="0"/>
                        </a:rPr>
                        <a:t>55-59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200" dirty="0">
                          <a:solidFill>
                            <a:schemeClr val="tx1">
                              <a:lumMod val="95000"/>
                              <a:lumOff val="5000"/>
                            </a:schemeClr>
                          </a:solidFill>
                          <a:latin typeface="Times New Roman" panose="02020603050405020304" pitchFamily="18" charset="0"/>
                          <a:cs typeface="Times New Roman" panose="02020603050405020304" pitchFamily="18" charset="0"/>
                        </a:rPr>
                        <a:t>50-54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200" dirty="0">
                          <a:solidFill>
                            <a:schemeClr val="tx1">
                              <a:lumMod val="95000"/>
                              <a:lumOff val="5000"/>
                            </a:schemeClr>
                          </a:solidFill>
                          <a:latin typeface="Times New Roman" panose="02020603050405020304" pitchFamily="18" charset="0"/>
                          <a:cs typeface="Times New Roman" panose="02020603050405020304" pitchFamily="18" charset="0"/>
                        </a:rPr>
                        <a:t>0-54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pic>
        <p:nvPicPr>
          <p:cNvPr id="2" name="Picture 2">
            <a:extLst>
              <a:ext uri="{FF2B5EF4-FFF2-40B4-BE49-F238E27FC236}">
                <a16:creationId xmlns:a16="http://schemas.microsoft.com/office/drawing/2014/main" id="{A5B26FF0-004A-3DFC-1130-B72E26302CD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87000" y="6330425"/>
            <a:ext cx="1905000" cy="2381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354229" y="5782694"/>
            <a:ext cx="1730188" cy="369332"/>
          </a:xfrm>
          <a:prstGeom prst="rect">
            <a:avLst/>
          </a:prstGeom>
          <a:noFill/>
          <a:ln>
            <a:solidFill>
              <a:srgbClr val="C00000"/>
            </a:solidFill>
          </a:ln>
        </p:spPr>
        <p:txBody>
          <a:bodyPr wrap="square" rtlCol="0">
            <a:spAutoFit/>
          </a:bodyPr>
          <a:lstStyle/>
          <a:p>
            <a:endParaRPr lang="en-IN" dirty="0"/>
          </a:p>
        </p:txBody>
      </p:sp>
      <p:sp>
        <p:nvSpPr>
          <p:cNvPr id="3" name="Rectangle 2"/>
          <p:cNvSpPr/>
          <p:nvPr/>
        </p:nvSpPr>
        <p:spPr>
          <a:xfrm>
            <a:off x="0" y="0"/>
            <a:ext cx="12192000" cy="705224"/>
          </a:xfrm>
          <a:prstGeom prst="rect">
            <a:avLst/>
          </a:prstGeom>
        </p:spPr>
        <p:style>
          <a:lnRef idx="0">
            <a:schemeClr val="accent3"/>
          </a:lnRef>
          <a:fillRef idx="3">
            <a:schemeClr val="accent3"/>
          </a:fillRef>
          <a:effectRef idx="3">
            <a:schemeClr val="accent3"/>
          </a:effectRef>
          <a:fontRef idx="minor">
            <a:schemeClr val="lt1"/>
          </a:fontRef>
        </p:style>
        <p:txBody>
          <a:bodyPr rtlCol="0" anchor="ctr"/>
          <a:lstStyle/>
          <a:p>
            <a:r>
              <a:rPr lang="en-IN" sz="2800" b="1" dirty="0">
                <a:solidFill>
                  <a:srgbClr val="800000"/>
                </a:solidFill>
                <a:latin typeface="Times New Roman" panose="02020603050405020304" pitchFamily="18" charset="0"/>
                <a:cs typeface="Times New Roman" panose="02020603050405020304" pitchFamily="18" charset="0"/>
              </a:rPr>
              <a:t>Attendance Policy</a:t>
            </a:r>
            <a:endParaRPr lang="en-IN" b="1" dirty="0">
              <a:solidFill>
                <a:srgbClr val="800000"/>
              </a:solidFill>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44841" y="-18389"/>
            <a:ext cx="2057680" cy="798924"/>
          </a:xfrm>
          <a:prstGeom prst="rect">
            <a:avLst/>
          </a:prstGeom>
        </p:spPr>
      </p:pic>
      <p:sp>
        <p:nvSpPr>
          <p:cNvPr id="10" name="Rectangle 1"/>
          <p:cNvSpPr>
            <a:spLocks noChangeArrowheads="1"/>
          </p:cNvSpPr>
          <p:nvPr/>
        </p:nvSpPr>
        <p:spPr bwMode="auto">
          <a:xfrm>
            <a:off x="294335" y="1132357"/>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en-US" sz="1200" b="0" i="0" u="none" strike="noStrike" cap="none" normalizeH="0" baseline="0">
                <a:ln>
                  <a:noFill/>
                </a:ln>
                <a:solidFill>
                  <a:srgbClr val="FF0000"/>
                </a:solidFill>
                <a:effectLst/>
                <a:latin typeface="Arial" panose="020B0604020202020204" pitchFamily="34" charset="0"/>
                <a:cs typeface="Arial" panose="020B060402020202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5271" y="910142"/>
            <a:ext cx="7623593" cy="2216930"/>
          </a:xfrm>
          <a:prstGeom prst="rect">
            <a:avLst/>
          </a:prstGeom>
        </p:spPr>
      </p:pic>
      <p:sp>
        <p:nvSpPr>
          <p:cNvPr id="8" name="TextBox 7"/>
          <p:cNvSpPr txBox="1"/>
          <p:nvPr/>
        </p:nvSpPr>
        <p:spPr>
          <a:xfrm>
            <a:off x="358588" y="3178341"/>
            <a:ext cx="9884936" cy="3139321"/>
          </a:xfrm>
          <a:prstGeom prst="rect">
            <a:avLst/>
          </a:prstGeom>
          <a:noFill/>
        </p:spPr>
        <p:txBody>
          <a:bodyPr wrap="square" rtlCol="0">
            <a:spAutoFit/>
          </a:bodyPr>
          <a:lstStyle/>
          <a:p>
            <a:pPr marL="285750" indent="-285750" algn="just">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Attendance will be taken both manually and through biometric attendance marking system. </a:t>
            </a:r>
          </a:p>
          <a:p>
            <a:pPr marL="285750" indent="-285750" algn="just">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Any kind of relaxation in the attendance policy will be informed and handled by the academics team. Course faculty is not authorized to mark a student present, who was absent for a class, under any circumstances. </a:t>
            </a:r>
          </a:p>
          <a:p>
            <a:pPr marL="285750" indent="-285750" algn="just">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Course faculty is not authorized to approve medical/family emergency leaves/ODs, etc., even if it is communicated through mentors/faculty co-ordinators.</a:t>
            </a:r>
          </a:p>
          <a:p>
            <a:pPr marL="285750" indent="-285750" algn="just">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If a student is eligible for OD for working under an authority, the same is to be communicated through the said authority to academics office. Course faculty is not authorized to mark OD/ ML.</a:t>
            </a:r>
          </a:p>
          <a:p>
            <a:pPr marL="285750" indent="-285750" algn="just">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For any attendance related quires, please write to:</a:t>
            </a:r>
          </a:p>
          <a:p>
            <a:pPr marL="285750" indent="-285750" algn="just">
              <a:buFont typeface="Wingdings" panose="05000000000000000000" pitchFamily="2" charset="2"/>
              <a:buChar char="§"/>
            </a:pPr>
            <a:endParaRPr lang="en-IN"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endParaRPr lang="en-IN" dirty="0">
              <a:latin typeface="Times New Roman" panose="02020603050405020304" pitchFamily="18" charset="0"/>
              <a:cs typeface="Times New Roman" panose="02020603050405020304" pitchFamily="18" charset="0"/>
            </a:endParaRPr>
          </a:p>
        </p:txBody>
      </p:sp>
      <p:pic>
        <p:nvPicPr>
          <p:cNvPr id="4" name="Picture 2">
            <a:extLst>
              <a:ext uri="{FF2B5EF4-FFF2-40B4-BE49-F238E27FC236}">
                <a16:creationId xmlns:a16="http://schemas.microsoft.com/office/drawing/2014/main" id="{50061EF3-27D8-7F68-D0A2-147C1AFBA00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354229" y="5848298"/>
            <a:ext cx="1905000" cy="2381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2000" cy="705224"/>
          </a:xfrm>
          <a:prstGeom prst="rect">
            <a:avLst/>
          </a:prstGeom>
        </p:spPr>
        <p:style>
          <a:lnRef idx="0">
            <a:schemeClr val="accent3"/>
          </a:lnRef>
          <a:fillRef idx="3">
            <a:schemeClr val="accent3"/>
          </a:fillRef>
          <a:effectRef idx="3">
            <a:schemeClr val="accent3"/>
          </a:effectRef>
          <a:fontRef idx="minor">
            <a:schemeClr val="lt1"/>
          </a:fontRef>
        </p:style>
        <p:txBody>
          <a:bodyPr rtlCol="0" anchor="ctr"/>
          <a:lstStyle/>
          <a:p>
            <a:endParaRPr lang="en-IN" b="1" dirty="0">
              <a:solidFill>
                <a:srgbClr val="800000"/>
              </a:solidFill>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44841" y="-18389"/>
            <a:ext cx="2057680" cy="798924"/>
          </a:xfrm>
          <a:prstGeom prst="rect">
            <a:avLst/>
          </a:prstGeom>
        </p:spPr>
      </p:pic>
      <p:sp>
        <p:nvSpPr>
          <p:cNvPr id="12" name="Rectangle 11"/>
          <p:cNvSpPr/>
          <p:nvPr/>
        </p:nvSpPr>
        <p:spPr>
          <a:xfrm>
            <a:off x="0" y="0"/>
            <a:ext cx="8822374" cy="705224"/>
          </a:xfrm>
          <a:prstGeom prst="rect">
            <a:avLst/>
          </a:prstGeom>
        </p:spPr>
        <p:style>
          <a:lnRef idx="0">
            <a:schemeClr val="accent3"/>
          </a:lnRef>
          <a:fillRef idx="3">
            <a:schemeClr val="accent3"/>
          </a:fillRef>
          <a:effectRef idx="3">
            <a:schemeClr val="accent3"/>
          </a:effectRef>
          <a:fontRef idx="minor">
            <a:schemeClr val="lt1"/>
          </a:fontRef>
        </p:style>
        <p:txBody>
          <a:bodyPr rtlCol="0" anchor="ctr"/>
          <a:lstStyle/>
          <a:p>
            <a:r>
              <a:rPr lang="en-IN" sz="2800" b="1" dirty="0">
                <a:solidFill>
                  <a:srgbClr val="800000"/>
                </a:solidFill>
                <a:latin typeface="Times New Roman" panose="02020603050405020304" pitchFamily="18" charset="0"/>
                <a:cs typeface="Times New Roman" panose="02020603050405020304" pitchFamily="18" charset="0"/>
              </a:rPr>
              <a:t>Academic Calendar – WIN Semester 2024-25 (Regular)</a:t>
            </a:r>
            <a:endParaRPr lang="en-IN" b="1" dirty="0">
              <a:solidFill>
                <a:srgbClr val="800000"/>
              </a:solidFill>
              <a:latin typeface="Times New Roman" panose="02020603050405020304" pitchFamily="18" charset="0"/>
              <a:cs typeface="Times New Roman" panose="02020603050405020304" pitchFamily="18" charset="0"/>
            </a:endParaRPr>
          </a:p>
        </p:txBody>
      </p:sp>
      <p:pic>
        <p:nvPicPr>
          <p:cNvPr id="5" name="Picture 2">
            <a:extLst>
              <a:ext uri="{FF2B5EF4-FFF2-40B4-BE49-F238E27FC236}">
                <a16:creationId xmlns:a16="http://schemas.microsoft.com/office/drawing/2014/main" id="{F14DD721-A22F-F68F-8DBC-A92BC2D9FD2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93694" y="6365363"/>
            <a:ext cx="1905000" cy="23812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C54548DD-8708-39B5-31B0-D6D7546FCBBC}"/>
              </a:ext>
            </a:extLst>
          </p:cNvPr>
          <p:cNvPicPr>
            <a:picLocks noChangeAspect="1"/>
          </p:cNvPicPr>
          <p:nvPr/>
        </p:nvPicPr>
        <p:blipFill>
          <a:blip r:embed="rId4"/>
          <a:stretch>
            <a:fillRect/>
          </a:stretch>
        </p:blipFill>
        <p:spPr>
          <a:xfrm>
            <a:off x="0" y="705224"/>
            <a:ext cx="12285306" cy="612467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2000" cy="705224"/>
          </a:xfrm>
          <a:prstGeom prst="rect">
            <a:avLst/>
          </a:prstGeom>
        </p:spPr>
        <p:style>
          <a:lnRef idx="0">
            <a:schemeClr val="accent3"/>
          </a:lnRef>
          <a:fillRef idx="3">
            <a:schemeClr val="accent3"/>
          </a:fillRef>
          <a:effectRef idx="3">
            <a:schemeClr val="accent3"/>
          </a:effectRef>
          <a:fontRef idx="minor">
            <a:schemeClr val="lt1"/>
          </a:fontRef>
        </p:style>
        <p:txBody>
          <a:bodyPr rtlCol="0" anchor="ctr"/>
          <a:lstStyle/>
          <a:p>
            <a:r>
              <a:rPr lang="en-IN" sz="2800" b="1" dirty="0">
                <a:solidFill>
                  <a:srgbClr val="800000"/>
                </a:solidFill>
                <a:latin typeface="Times New Roman" panose="02020603050405020304" pitchFamily="18" charset="0"/>
                <a:cs typeface="Times New Roman" panose="02020603050405020304" pitchFamily="18" charset="0"/>
              </a:rPr>
              <a:t>Details of the Course Faculty</a:t>
            </a:r>
            <a:endParaRPr lang="en-IN" b="1" dirty="0">
              <a:solidFill>
                <a:srgbClr val="800000"/>
              </a:solidFill>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44841" y="-18389"/>
            <a:ext cx="2057680" cy="798924"/>
          </a:xfrm>
          <a:prstGeom prst="rect">
            <a:avLst/>
          </a:prstGeom>
        </p:spPr>
      </p:pic>
      <p:sp>
        <p:nvSpPr>
          <p:cNvPr id="10" name="Rectangle 1"/>
          <p:cNvSpPr>
            <a:spLocks noChangeArrowheads="1"/>
          </p:cNvSpPr>
          <p:nvPr/>
        </p:nvSpPr>
        <p:spPr bwMode="auto">
          <a:xfrm>
            <a:off x="294335" y="1132357"/>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en-US" sz="1200" b="0" i="0" u="none" strike="noStrike" cap="none" normalizeH="0" baseline="0">
                <a:ln>
                  <a:noFill/>
                </a:ln>
                <a:solidFill>
                  <a:srgbClr val="FF0000"/>
                </a:solidFill>
                <a:effectLst/>
                <a:latin typeface="Arial" panose="020B0604020202020204" pitchFamily="34" charset="0"/>
                <a:cs typeface="Arial" panose="020B060402020202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4" name="Table 3"/>
          <p:cNvGraphicFramePr>
            <a:graphicFrameLocks noGrp="1"/>
          </p:cNvGraphicFramePr>
          <p:nvPr>
            <p:extLst>
              <p:ext uri="{D42A27DB-BD31-4B8C-83A1-F6EECF244321}">
                <p14:modId xmlns:p14="http://schemas.microsoft.com/office/powerpoint/2010/main" val="2194340990"/>
              </p:ext>
            </p:extLst>
          </p:nvPr>
        </p:nvGraphicFramePr>
        <p:xfrm>
          <a:off x="179294" y="982640"/>
          <a:ext cx="10793506" cy="4572000"/>
        </p:xfrm>
        <a:graphic>
          <a:graphicData uri="http://schemas.openxmlformats.org/drawingml/2006/table">
            <a:tbl>
              <a:tblPr firstRow="1" bandRow="1">
                <a:tableStyleId>{5C22544A-7EE6-4342-B048-85BDC9FD1C3A}</a:tableStyleId>
              </a:tblPr>
              <a:tblGrid>
                <a:gridCol w="3307844">
                  <a:extLst>
                    <a:ext uri="{9D8B030D-6E8A-4147-A177-3AD203B41FA5}">
                      <a16:colId xmlns:a16="http://schemas.microsoft.com/office/drawing/2014/main" val="20000"/>
                    </a:ext>
                  </a:extLst>
                </a:gridCol>
                <a:gridCol w="7485662">
                  <a:extLst>
                    <a:ext uri="{9D8B030D-6E8A-4147-A177-3AD203B41FA5}">
                      <a16:colId xmlns:a16="http://schemas.microsoft.com/office/drawing/2014/main" val="20001"/>
                    </a:ext>
                  </a:extLst>
                </a:gridCol>
              </a:tblGrid>
              <a:tr h="370840">
                <a:tc>
                  <a:txBody>
                    <a:bodyPr/>
                    <a:lstStyle/>
                    <a:p>
                      <a:endParaRPr lang="en-IN" b="0" dirty="0">
                        <a:solidFill>
                          <a:schemeClr val="tx1">
                            <a:lumMod val="95000"/>
                            <a:lumOff val="5000"/>
                          </a:schemeClr>
                        </a:solidFill>
                        <a:latin typeface="Times New Roman" panose="02020603050405020304" pitchFamily="18" charset="0"/>
                        <a:cs typeface="Times New Roman" panose="02020603050405020304" pitchFamily="18" charset="0"/>
                      </a:endParaRPr>
                    </a:p>
                    <a:p>
                      <a:r>
                        <a:rPr lang="en-IN" b="0" dirty="0">
                          <a:solidFill>
                            <a:schemeClr val="tx1">
                              <a:lumMod val="95000"/>
                              <a:lumOff val="5000"/>
                            </a:schemeClr>
                          </a:solidFill>
                          <a:latin typeface="Times New Roman" panose="02020603050405020304" pitchFamily="18" charset="0"/>
                          <a:cs typeface="Times New Roman" panose="02020603050405020304" pitchFamily="18" charset="0"/>
                        </a:rPr>
                        <a:t>Name</a:t>
                      </a:r>
                    </a:p>
                    <a:p>
                      <a:endParaRPr lang="en-IN" b="0"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a:p>
                      <a:r>
                        <a:rPr lang="en-IN" b="0" dirty="0">
                          <a:solidFill>
                            <a:schemeClr val="tx1">
                              <a:lumMod val="95000"/>
                              <a:lumOff val="5000"/>
                            </a:schemeClr>
                          </a:solidFill>
                          <a:latin typeface="Times New Roman" panose="02020603050405020304" pitchFamily="18" charset="0"/>
                          <a:cs typeface="Times New Roman" panose="02020603050405020304" pitchFamily="18" charset="0"/>
                        </a:rPr>
                        <a:t>Sravani Sarisa</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70840">
                <a:tc>
                  <a:txBody>
                    <a:bodyPr/>
                    <a:lstStyle/>
                    <a:p>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a:p>
                      <a:r>
                        <a:rPr lang="en-IN" dirty="0">
                          <a:solidFill>
                            <a:schemeClr val="tx1">
                              <a:lumMod val="95000"/>
                              <a:lumOff val="5000"/>
                            </a:schemeClr>
                          </a:solidFill>
                          <a:latin typeface="Times New Roman" panose="02020603050405020304" pitchFamily="18" charset="0"/>
                          <a:cs typeface="Times New Roman" panose="02020603050405020304" pitchFamily="18" charset="0"/>
                        </a:rPr>
                        <a:t>Company</a:t>
                      </a:r>
                    </a:p>
                    <a:p>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a:p>
                      <a:r>
                        <a:rPr lang="en-IN" dirty="0">
                          <a:solidFill>
                            <a:schemeClr val="tx1">
                              <a:lumMod val="95000"/>
                              <a:lumOff val="5000"/>
                            </a:schemeClr>
                          </a:solidFill>
                          <a:latin typeface="Times New Roman" panose="02020603050405020304" pitchFamily="18" charset="0"/>
                          <a:cs typeface="Times New Roman" panose="02020603050405020304" pitchFamily="18" charset="0"/>
                        </a:rPr>
                        <a:t>FACEPREP</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0840">
                <a:tc>
                  <a:txBody>
                    <a:bodyPr/>
                    <a:lstStyle/>
                    <a:p>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a:p>
                      <a:r>
                        <a:rPr lang="en-IN" dirty="0">
                          <a:solidFill>
                            <a:schemeClr val="tx1">
                              <a:lumMod val="95000"/>
                              <a:lumOff val="5000"/>
                            </a:schemeClr>
                          </a:solidFill>
                          <a:latin typeface="Times New Roman" panose="02020603050405020304" pitchFamily="18" charset="0"/>
                          <a:cs typeface="Times New Roman" panose="02020603050405020304" pitchFamily="18" charset="0"/>
                        </a:rPr>
                        <a:t>Mail ID</a:t>
                      </a:r>
                    </a:p>
                    <a:p>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a:p>
                      <a:r>
                        <a:rPr lang="en-IN" u="sng" dirty="0">
                          <a:solidFill>
                            <a:schemeClr val="accent1"/>
                          </a:solidFill>
                          <a:latin typeface="Times New Roman" panose="02020603050405020304" pitchFamily="18" charset="0"/>
                          <a:cs typeface="Times New Roman" panose="02020603050405020304" pitchFamily="18" charset="0"/>
                          <a:hlinkClick r:id="rId3"/>
                        </a:rPr>
                        <a:t>sravani.facevitap@gmail.com</a:t>
                      </a:r>
                      <a:r>
                        <a:rPr lang="en-IN" u="sng" dirty="0">
                          <a:solidFill>
                            <a:schemeClr val="accent1"/>
                          </a:solidFill>
                          <a:latin typeface="Times New Roman" panose="02020603050405020304" pitchFamily="18" charset="0"/>
                          <a:cs typeface="Times New Roman" panose="02020603050405020304" pitchFamily="18" charset="0"/>
                        </a:rPr>
                        <a:t> </a:t>
                      </a:r>
                      <a:r>
                        <a:rPr lang="en-IN" dirty="0">
                          <a:solidFill>
                            <a:schemeClr val="tx1">
                              <a:lumMod val="95000"/>
                              <a:lumOff val="5000"/>
                            </a:schemeClr>
                          </a:solidFill>
                          <a:latin typeface="Times New Roman" panose="02020603050405020304" pitchFamily="18" charset="0"/>
                          <a:cs typeface="Times New Roman" panose="02020603050405020304" pitchFamily="18" charset="0"/>
                        </a:rPr>
                        <a:t>(faculty)</a:t>
                      </a:r>
                      <a:br>
                        <a:rPr lang="en-IN" dirty="0">
                          <a:solidFill>
                            <a:schemeClr val="tx1">
                              <a:lumMod val="95000"/>
                              <a:lumOff val="5000"/>
                            </a:schemeClr>
                          </a:solidFill>
                          <a:latin typeface="Times New Roman" panose="02020603050405020304" pitchFamily="18" charset="0"/>
                          <a:cs typeface="Times New Roman" panose="02020603050405020304" pitchFamily="18" charset="0"/>
                        </a:rPr>
                      </a:br>
                      <a:r>
                        <a:rPr lang="en-IN" u="sng" dirty="0">
                          <a:solidFill>
                            <a:srgbClr val="0563C1"/>
                          </a:solidFill>
                          <a:latin typeface="Times New Roman" panose="02020603050405020304" pitchFamily="18" charset="0"/>
                          <a:cs typeface="Times New Roman" panose="02020603050405020304" pitchFamily="18" charset="0"/>
                        </a:rPr>
                        <a:t>sanjay.facevitap@gmail.com</a:t>
                      </a:r>
                      <a:r>
                        <a:rPr lang="en-IN" dirty="0">
                          <a:solidFill>
                            <a:schemeClr val="tx1"/>
                          </a:solidFill>
                          <a:latin typeface="Times New Roman" panose="02020603050405020304" pitchFamily="18" charset="0"/>
                          <a:cs typeface="Times New Roman" panose="02020603050405020304" pitchFamily="18" charset="0"/>
                        </a:rPr>
                        <a:t>(Face coordinator)</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70840">
                <a:tc>
                  <a:txBody>
                    <a:bodyPr/>
                    <a:lstStyle/>
                    <a:p>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a:p>
                      <a:r>
                        <a:rPr lang="en-IN" dirty="0">
                          <a:solidFill>
                            <a:schemeClr val="tx1">
                              <a:lumMod val="95000"/>
                              <a:lumOff val="5000"/>
                            </a:schemeClr>
                          </a:solidFill>
                          <a:latin typeface="Times New Roman" panose="02020603050405020304" pitchFamily="18" charset="0"/>
                          <a:cs typeface="Times New Roman" panose="02020603050405020304" pitchFamily="18" charset="0"/>
                        </a:rPr>
                        <a:t>Cabin Details</a:t>
                      </a:r>
                    </a:p>
                    <a:p>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a:p>
                      <a:r>
                        <a:rPr lang="en-IN" dirty="0">
                          <a:solidFill>
                            <a:schemeClr val="tx1">
                              <a:lumMod val="95000"/>
                              <a:lumOff val="5000"/>
                            </a:schemeClr>
                          </a:solidFill>
                          <a:latin typeface="Times New Roman" panose="02020603050405020304" pitchFamily="18" charset="0"/>
                          <a:cs typeface="Times New Roman" panose="02020603050405020304" pitchFamily="18" charset="0"/>
                        </a:rPr>
                        <a:t>AB1, 305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r>
                        <a:rPr lang="en-IN" dirty="0">
                          <a:solidFill>
                            <a:schemeClr val="tx1">
                              <a:lumMod val="95000"/>
                              <a:lumOff val="5000"/>
                            </a:schemeClr>
                          </a:solidFill>
                          <a:latin typeface="Times New Roman" panose="02020603050405020304" pitchFamily="18" charset="0"/>
                          <a:cs typeface="Times New Roman" panose="02020603050405020304" pitchFamily="18" charset="0"/>
                        </a:rPr>
                        <a:t>Free hours for doubt clearance</a:t>
                      </a:r>
                    </a:p>
                    <a:p>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a:p>
                      <a:r>
                        <a:rPr lang="en-IN" dirty="0">
                          <a:solidFill>
                            <a:schemeClr val="tx1">
                              <a:lumMod val="95000"/>
                              <a:lumOff val="5000"/>
                            </a:schemeClr>
                          </a:solidFill>
                          <a:highlight>
                            <a:srgbClr val="FFFF00"/>
                          </a:highlight>
                          <a:latin typeface="Times New Roman" panose="02020603050405020304" pitchFamily="18" charset="0"/>
                          <a:cs typeface="Times New Roman" panose="02020603050405020304" pitchFamily="18" charset="0"/>
                        </a:rPr>
                        <a:t>Wednesday – 10 am to 11 am, Friday –10 am to 11 am</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p:pic>
        <p:nvPicPr>
          <p:cNvPr id="5" name="Picture 2">
            <a:extLst>
              <a:ext uri="{FF2B5EF4-FFF2-40B4-BE49-F238E27FC236}">
                <a16:creationId xmlns:a16="http://schemas.microsoft.com/office/drawing/2014/main" id="{7DECB5EF-4E03-8BA3-B701-841593AC43C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097521" y="6240183"/>
            <a:ext cx="1905000" cy="2381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2000" cy="705224"/>
          </a:xfrm>
          <a:prstGeom prst="rect">
            <a:avLst/>
          </a:prstGeom>
        </p:spPr>
        <p:style>
          <a:lnRef idx="0">
            <a:schemeClr val="accent3"/>
          </a:lnRef>
          <a:fillRef idx="3">
            <a:schemeClr val="accent3"/>
          </a:fillRef>
          <a:effectRef idx="3">
            <a:schemeClr val="accent3"/>
          </a:effectRef>
          <a:fontRef idx="minor">
            <a:schemeClr val="lt1"/>
          </a:fontRef>
        </p:style>
        <p:txBody>
          <a:bodyPr rtlCol="0" anchor="ctr"/>
          <a:lstStyle/>
          <a:p>
            <a:r>
              <a:rPr lang="en-IN" sz="2800" b="1" dirty="0">
                <a:solidFill>
                  <a:srgbClr val="800000"/>
                </a:solidFill>
                <a:latin typeface="Times New Roman" panose="02020603050405020304" pitchFamily="18" charset="0"/>
                <a:cs typeface="Times New Roman" panose="02020603050405020304" pitchFamily="18" charset="0"/>
              </a:rPr>
              <a:t>General Instructions</a:t>
            </a:r>
            <a:endParaRPr lang="en-IN" b="1" dirty="0">
              <a:solidFill>
                <a:srgbClr val="800000"/>
              </a:solidFill>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44841" y="-18389"/>
            <a:ext cx="2057680" cy="798924"/>
          </a:xfrm>
          <a:prstGeom prst="rect">
            <a:avLst/>
          </a:prstGeom>
        </p:spPr>
      </p:pic>
      <p:sp>
        <p:nvSpPr>
          <p:cNvPr id="10" name="Rectangle 1"/>
          <p:cNvSpPr>
            <a:spLocks noChangeArrowheads="1"/>
          </p:cNvSpPr>
          <p:nvPr/>
        </p:nvSpPr>
        <p:spPr bwMode="auto">
          <a:xfrm>
            <a:off x="294335" y="1132357"/>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en-US" sz="1200" b="0" i="0" u="none" strike="noStrike" cap="none" normalizeH="0" baseline="0">
                <a:ln>
                  <a:noFill/>
                </a:ln>
                <a:solidFill>
                  <a:srgbClr val="FF0000"/>
                </a:solidFill>
                <a:effectLst/>
                <a:latin typeface="Arial" panose="020B0604020202020204" pitchFamily="34" charset="0"/>
                <a:cs typeface="Arial" panose="020B060402020202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 name="TextBox 4"/>
          <p:cNvSpPr txBox="1"/>
          <p:nvPr/>
        </p:nvSpPr>
        <p:spPr>
          <a:xfrm>
            <a:off x="215458" y="798924"/>
            <a:ext cx="10673976" cy="5355312"/>
          </a:xfrm>
          <a:prstGeom prst="rect">
            <a:avLst/>
          </a:prstGeom>
          <a:noFill/>
        </p:spPr>
        <p:txBody>
          <a:bodyPr wrap="square" rtlCol="0">
            <a:spAutoFit/>
          </a:bodyPr>
          <a:lstStyle/>
          <a:p>
            <a:pPr marL="285750" indent="-285750">
              <a:buFont typeface="Arial" panose="020B0604020202020204" pitchFamily="34" charset="0"/>
              <a:buChar char="•"/>
            </a:pPr>
            <a:r>
              <a:rPr lang="en-US" dirty="0"/>
              <a:t>Students are allowed to enter the class within the first 5 minutes of the session without seeking permission. However, entry after 5 minutes will not be permitted without a valid reason.</a:t>
            </a:r>
          </a:p>
          <a:p>
            <a:pPr marL="285750" indent="-285750">
              <a:buFont typeface="Arial" panose="020B0604020202020204" pitchFamily="34" charset="0"/>
              <a:buChar char="•"/>
            </a:pPr>
            <a:r>
              <a:rPr lang="en-US" dirty="0"/>
              <a:t>The use of mobile phones during class should be avoided. In case of an emergency call, please step outside the classroom to take the call and return afterward.</a:t>
            </a:r>
          </a:p>
          <a:p>
            <a:pPr marL="285750" indent="-285750">
              <a:buFont typeface="Arial" panose="020B0604020202020204" pitchFamily="34" charset="0"/>
              <a:buChar char="•"/>
            </a:pPr>
            <a:r>
              <a:rPr lang="en-US" dirty="0"/>
              <a:t>If you have any concerns or issues, feel free to address them during the class or email me using the contact provided in the previous slides.</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Regarding any attendance issues kindly follow the below mentioned format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To : </a:t>
            </a:r>
            <a:r>
              <a:rPr lang="en-US" sz="1800" u="sng" dirty="0">
                <a:solidFill>
                  <a:schemeClr val="accent1"/>
                </a:solidFill>
                <a:latin typeface="Times New Roman" panose="02020603050405020304" pitchFamily="18" charset="0"/>
                <a:cs typeface="Times New Roman" panose="02020603050405020304" pitchFamily="18" charset="0"/>
              </a:rPr>
              <a:t>sravani</a:t>
            </a:r>
            <a:r>
              <a:rPr lang="en-US" u="sng" dirty="0">
                <a:solidFill>
                  <a:srgbClr val="0563C1"/>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a:t>
            </a:r>
            <a:r>
              <a:rPr lang="en-US" u="sng" dirty="0">
                <a:solidFill>
                  <a:schemeClr val="accent1"/>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facevitap@gmail.com</a:t>
            </a:r>
            <a:endParaRPr lang="en-US" u="sng" dirty="0">
              <a:solidFill>
                <a:schemeClr val="accent1"/>
              </a:solidFill>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     Cc : </a:t>
            </a:r>
            <a:r>
              <a:rPr lang="en-US" sz="1800" dirty="0">
                <a:latin typeface="Times New Roman" panose="02020603050405020304" pitchFamily="18" charset="0"/>
                <a:cs typeface="Times New Roman" panose="02020603050405020304" pitchFamily="18" charset="0"/>
                <a:hlinkClick r:id="rId4"/>
              </a:rPr>
              <a:t>sanjay.facevitap@gmail.com</a:t>
            </a: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     Subject: Attendance issue | </a:t>
            </a:r>
            <a:r>
              <a:rPr lang="en-US" dirty="0">
                <a:latin typeface="Times New Roman" panose="02020603050405020304" pitchFamily="18" charset="0"/>
                <a:cs typeface="Times New Roman" panose="02020603050405020304" pitchFamily="18" charset="0"/>
              </a:rPr>
              <a:t>Reg No </a:t>
            </a:r>
            <a:r>
              <a:rPr lang="en-US" sz="1800" dirty="0">
                <a:latin typeface="Times New Roman" panose="02020603050405020304" pitchFamily="18" charset="0"/>
                <a:cs typeface="Times New Roman" panose="02020603050405020304" pitchFamily="18" charset="0"/>
              </a:rPr>
              <a:t>| Date</a:t>
            </a:r>
          </a:p>
          <a:p>
            <a:r>
              <a:rPr lang="en-US" sz="1800" u="sng" dirty="0">
                <a:latin typeface="Times New Roman" panose="02020603050405020304" pitchFamily="18" charset="0"/>
                <a:cs typeface="Times New Roman" panose="02020603050405020304" pitchFamily="18" charset="0"/>
              </a:rPr>
              <a:t>     Body of the letter :</a:t>
            </a:r>
          </a:p>
          <a:p>
            <a:r>
              <a:rPr lang="en-US" sz="1800" dirty="0">
                <a:latin typeface="Times New Roman" panose="02020603050405020304" pitchFamily="18" charset="0"/>
                <a:cs typeface="Times New Roman" panose="02020603050405020304" pitchFamily="18" charset="0"/>
              </a:rPr>
              <a:t>               Register number :</a:t>
            </a:r>
          </a:p>
          <a:p>
            <a:r>
              <a:rPr lang="en-US" sz="1800" dirty="0">
                <a:latin typeface="Times New Roman" panose="02020603050405020304" pitchFamily="18" charset="0"/>
                <a:cs typeface="Times New Roman" panose="02020603050405020304" pitchFamily="18" charset="0"/>
              </a:rPr>
              <a:t>               Name :</a:t>
            </a:r>
          </a:p>
          <a:p>
            <a:r>
              <a:rPr lang="en-US" sz="1800" dirty="0">
                <a:latin typeface="Times New Roman" panose="02020603050405020304" pitchFamily="18" charset="0"/>
                <a:cs typeface="Times New Roman" panose="02020603050405020304" pitchFamily="18" charset="0"/>
              </a:rPr>
              <a:t>               Course code : </a:t>
            </a:r>
          </a:p>
          <a:p>
            <a:r>
              <a:rPr lang="en-US" sz="1800" dirty="0">
                <a:latin typeface="Times New Roman" panose="02020603050405020304" pitchFamily="18" charset="0"/>
                <a:cs typeface="Times New Roman" panose="02020603050405020304" pitchFamily="18" charset="0"/>
              </a:rPr>
              <a:t>               Slot </a:t>
            </a:r>
            <a:r>
              <a:rPr lang="en-IN" altLang="en-US" sz="1800" dirty="0">
                <a:latin typeface="Times New Roman" panose="02020603050405020304" pitchFamily="18" charset="0"/>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 </a:t>
            </a:r>
          </a:p>
          <a:p>
            <a:r>
              <a:rPr lang="en-US" sz="1800" dirty="0">
                <a:latin typeface="Times New Roman" panose="02020603050405020304" pitchFamily="18" charset="0"/>
                <a:cs typeface="Times New Roman" panose="02020603050405020304" pitchFamily="18" charset="0"/>
              </a:rPr>
              <a:t>               Faculty N</a:t>
            </a:r>
            <a:r>
              <a:rPr lang="en-IN" dirty="0" err="1">
                <a:latin typeface="Times New Roman" panose="02020603050405020304" pitchFamily="18" charset="0"/>
                <a:cs typeface="Times New Roman" panose="02020603050405020304" pitchFamily="18" charset="0"/>
              </a:rPr>
              <a:t>ame</a:t>
            </a:r>
            <a:r>
              <a:rPr lang="en-US" sz="1800" dirty="0">
                <a:latin typeface="Times New Roman" panose="02020603050405020304" pitchFamily="18" charset="0"/>
                <a:cs typeface="Times New Roman" panose="02020603050405020304" pitchFamily="18" charset="0"/>
              </a:rPr>
              <a:t> : </a:t>
            </a:r>
          </a:p>
          <a:p>
            <a:r>
              <a:rPr lang="en-US" sz="1800" dirty="0">
                <a:latin typeface="Times New Roman" panose="02020603050405020304" pitchFamily="18" charset="0"/>
                <a:cs typeface="Times New Roman" panose="02020603050405020304" pitchFamily="18" charset="0"/>
              </a:rPr>
              <a:t>               Mention about the Issue : </a:t>
            </a:r>
          </a:p>
          <a:p>
            <a:r>
              <a:rPr lang="en-US" sz="1800" dirty="0">
                <a:latin typeface="Times New Roman" panose="02020603050405020304" pitchFamily="18" charset="0"/>
                <a:cs typeface="Times New Roman" panose="02020603050405020304" pitchFamily="18" charset="0"/>
              </a:rPr>
              <a:t>Format should be followed otherwise mail will not be considered.</a:t>
            </a: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p:txBody>
      </p:sp>
      <p:pic>
        <p:nvPicPr>
          <p:cNvPr id="6" name="Picture 2">
            <a:extLst>
              <a:ext uri="{FF2B5EF4-FFF2-40B4-BE49-F238E27FC236}">
                <a16:creationId xmlns:a16="http://schemas.microsoft.com/office/drawing/2014/main" id="{05A231CA-4452-73F7-31C7-693501B6D24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071542" y="6190548"/>
            <a:ext cx="1905000" cy="2381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AB9F0-E5D9-9516-058D-497235B84308}"/>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8E5DABA5-3E21-03B2-600B-75C1CC8A9B12}"/>
              </a:ext>
            </a:extLst>
          </p:cNvPr>
          <p:cNvSpPr/>
          <p:nvPr/>
        </p:nvSpPr>
        <p:spPr>
          <a:xfrm>
            <a:off x="0" y="0"/>
            <a:ext cx="12192000" cy="705224"/>
          </a:xfrm>
          <a:prstGeom prst="rect">
            <a:avLst/>
          </a:prstGeom>
        </p:spPr>
        <p:style>
          <a:lnRef idx="0">
            <a:schemeClr val="accent3"/>
          </a:lnRef>
          <a:fillRef idx="3">
            <a:schemeClr val="accent3"/>
          </a:fillRef>
          <a:effectRef idx="3">
            <a:schemeClr val="accent3"/>
          </a:effectRef>
          <a:fontRef idx="minor">
            <a:schemeClr val="lt1"/>
          </a:fontRef>
        </p:style>
        <p:txBody>
          <a:bodyPr rtlCol="0" anchor="ctr"/>
          <a:lstStyle/>
          <a:p>
            <a:r>
              <a:rPr lang="en-IN" sz="2800" b="1" dirty="0">
                <a:solidFill>
                  <a:srgbClr val="800000"/>
                </a:solidFill>
                <a:latin typeface="Times New Roman" panose="02020603050405020304" pitchFamily="18" charset="0"/>
                <a:cs typeface="Times New Roman" panose="02020603050405020304" pitchFamily="18" charset="0"/>
              </a:rPr>
              <a:t>General Instructions</a:t>
            </a:r>
            <a:endParaRPr lang="en-IN" b="1" dirty="0">
              <a:solidFill>
                <a:srgbClr val="800000"/>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FDBC3D27-175F-855B-A0C1-729BDC61483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44841" y="-18389"/>
            <a:ext cx="2057680" cy="798924"/>
          </a:xfrm>
          <a:prstGeom prst="rect">
            <a:avLst/>
          </a:prstGeom>
        </p:spPr>
      </p:pic>
      <p:sp>
        <p:nvSpPr>
          <p:cNvPr id="10" name="Rectangle 1">
            <a:extLst>
              <a:ext uri="{FF2B5EF4-FFF2-40B4-BE49-F238E27FC236}">
                <a16:creationId xmlns:a16="http://schemas.microsoft.com/office/drawing/2014/main" id="{0AE87C6E-66A1-A215-4CD8-B49BE29F7F78}"/>
              </a:ext>
            </a:extLst>
          </p:cNvPr>
          <p:cNvSpPr>
            <a:spLocks noChangeArrowheads="1"/>
          </p:cNvSpPr>
          <p:nvPr/>
        </p:nvSpPr>
        <p:spPr bwMode="auto">
          <a:xfrm>
            <a:off x="294335" y="1132357"/>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en-US" sz="1200" b="0" i="0" u="none" strike="noStrike" cap="none" normalizeH="0" baseline="0">
                <a:ln>
                  <a:noFill/>
                </a:ln>
                <a:solidFill>
                  <a:srgbClr val="FF0000"/>
                </a:solidFill>
                <a:effectLst/>
                <a:latin typeface="Arial" panose="020B0604020202020204" pitchFamily="34" charset="0"/>
                <a:cs typeface="Arial" panose="020B060402020202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24FDF1EF-D6DF-A494-4AC8-C92113496EE6}"/>
              </a:ext>
            </a:extLst>
          </p:cNvPr>
          <p:cNvSpPr txBox="1"/>
          <p:nvPr/>
        </p:nvSpPr>
        <p:spPr>
          <a:xfrm>
            <a:off x="215458" y="798924"/>
            <a:ext cx="10673976" cy="3139321"/>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Regarding Assignment Submission mail format</a:t>
            </a:r>
          </a:p>
          <a:p>
            <a:r>
              <a:rPr lang="en-US" dirty="0">
                <a:latin typeface="Times New Roman" panose="02020603050405020304" pitchFamily="18" charset="0"/>
                <a:cs typeface="Times New Roman" panose="02020603050405020304" pitchFamily="18" charset="0"/>
              </a:rPr>
              <a:t> To: </a:t>
            </a:r>
            <a:r>
              <a:rPr lang="en-US" u="sng" dirty="0">
                <a:solidFill>
                  <a:schemeClr val="accent1"/>
                </a:solidFill>
                <a:latin typeface="Times New Roman" panose="02020603050405020304" pitchFamily="18" charset="0"/>
                <a:cs typeface="Times New Roman" panose="02020603050405020304" pitchFamily="18" charset="0"/>
              </a:rPr>
              <a:t>sravani</a:t>
            </a:r>
            <a:r>
              <a:rPr lang="en-US" u="sng" dirty="0">
                <a:solidFill>
                  <a:srgbClr val="0563C1"/>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a:t>
            </a:r>
            <a:r>
              <a:rPr lang="en-US" u="sng" dirty="0">
                <a:solidFill>
                  <a:schemeClr val="accent1"/>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facevitap@gmail.com</a:t>
            </a:r>
            <a:endParaRPr lang="en-US" u="sng" dirty="0">
              <a:solidFill>
                <a:schemeClr val="accent1"/>
              </a:solidFill>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Subject : STS4006 | Assignment -01 | Reg No | Slot</a:t>
            </a:r>
          </a:p>
          <a:p>
            <a:r>
              <a:rPr lang="en-US" dirty="0">
                <a:latin typeface="Times New Roman" panose="02020603050405020304" pitchFamily="18" charset="0"/>
                <a:cs typeface="Times New Roman" panose="02020603050405020304" pitchFamily="18" charset="0"/>
              </a:rPr>
              <a:t> Body :</a:t>
            </a:r>
          </a:p>
          <a:p>
            <a:r>
              <a:rPr lang="en-US" dirty="0">
                <a:latin typeface="Times New Roman" panose="02020603050405020304" pitchFamily="18" charset="0"/>
                <a:cs typeface="Times New Roman" panose="02020603050405020304" pitchFamily="18" charset="0"/>
              </a:rPr>
              <a:t>  Name :</a:t>
            </a:r>
          </a:p>
          <a:p>
            <a:r>
              <a:rPr lang="en-US" dirty="0">
                <a:latin typeface="Times New Roman" panose="02020603050405020304" pitchFamily="18" charset="0"/>
                <a:cs typeface="Times New Roman" panose="02020603050405020304" pitchFamily="18" charset="0"/>
              </a:rPr>
              <a:t>  Reg No: </a:t>
            </a:r>
          </a:p>
          <a:p>
            <a:r>
              <a:rPr lang="en-US" dirty="0">
                <a:latin typeface="Times New Roman" panose="02020603050405020304" pitchFamily="18" charset="0"/>
                <a:cs typeface="Times New Roman" panose="02020603050405020304" pitchFamily="18" charset="0"/>
              </a:rPr>
              <a:t>  No of questions :</a:t>
            </a:r>
          </a:p>
          <a:p>
            <a:r>
              <a:rPr lang="en-US" dirty="0">
                <a:latin typeface="Times New Roman" panose="02020603050405020304" pitchFamily="18" charset="0"/>
                <a:cs typeface="Times New Roman" panose="02020603050405020304" pitchFamily="18" charset="0"/>
              </a:rPr>
              <a:t>  Problem Statement Name :</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Format should be followed otherwise mail will not be considered.</a:t>
            </a:r>
          </a:p>
          <a:p>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pic>
        <p:nvPicPr>
          <p:cNvPr id="6" name="Picture 2">
            <a:extLst>
              <a:ext uri="{FF2B5EF4-FFF2-40B4-BE49-F238E27FC236}">
                <a16:creationId xmlns:a16="http://schemas.microsoft.com/office/drawing/2014/main" id="{3F3063AD-A52F-2EB8-4339-0FD71BCDD88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071542" y="6190548"/>
            <a:ext cx="1905000" cy="238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84731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0" y="2587822"/>
            <a:ext cx="12192000" cy="1655477"/>
          </a:xfrm>
          <a:prstGeom prst="rect">
            <a:avLst/>
          </a:prstGeom>
        </p:spPr>
        <p:style>
          <a:lnRef idx="0">
            <a:schemeClr val="accent3"/>
          </a:lnRef>
          <a:fillRef idx="3">
            <a:schemeClr val="accent3"/>
          </a:fillRef>
          <a:effectRef idx="3">
            <a:schemeClr val="accent3"/>
          </a:effectRef>
          <a:fontRef idx="minor">
            <a:schemeClr val="lt1"/>
          </a:fontRef>
        </p:style>
        <p:txBody>
          <a:bodyPr rtlCol="0" anchor="ctr"/>
          <a:lstStyle/>
          <a:p>
            <a:endParaRPr lang="en-IN" b="1" dirty="0">
              <a:solidFill>
                <a:srgbClr val="800000"/>
              </a:solidFill>
              <a:latin typeface="Times New Roman" panose="02020603050405020304" pitchFamily="18" charset="0"/>
              <a:cs typeface="Times New Roman" panose="02020603050405020304" pitchFamily="18" charset="0"/>
            </a:endParaRPr>
          </a:p>
        </p:txBody>
      </p:sp>
      <p:sp>
        <p:nvSpPr>
          <p:cNvPr id="4" name="TextBox 3"/>
          <p:cNvSpPr txBox="1"/>
          <p:nvPr/>
        </p:nvSpPr>
        <p:spPr>
          <a:xfrm>
            <a:off x="22438" y="3151548"/>
            <a:ext cx="12152731" cy="707886"/>
          </a:xfrm>
          <a:prstGeom prst="rect">
            <a:avLst/>
          </a:prstGeom>
          <a:noFill/>
        </p:spPr>
        <p:txBody>
          <a:bodyPr wrap="square" rtlCol="0">
            <a:spAutoFit/>
          </a:bodyPr>
          <a:lstStyle/>
          <a:p>
            <a:pPr algn="ctr"/>
            <a:r>
              <a:rPr lang="en-IN" sz="4000" b="1" dirty="0">
                <a:solidFill>
                  <a:srgbClr val="800000"/>
                </a:solidFill>
                <a:latin typeface="Times New Roman" panose="02020603050405020304" pitchFamily="18" charset="0"/>
                <a:cs typeface="Times New Roman" panose="02020603050405020304" pitchFamily="18" charset="0"/>
              </a:rPr>
              <a:t>Thank You…</a:t>
            </a: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38447" y="250546"/>
            <a:ext cx="2057680" cy="798924"/>
          </a:xfrm>
          <a:prstGeom prst="rect">
            <a:avLst/>
          </a:prstGeom>
        </p:spPr>
      </p:pic>
      <p:sp>
        <p:nvSpPr>
          <p:cNvPr id="8" name="TextBox 7"/>
          <p:cNvSpPr txBox="1"/>
          <p:nvPr/>
        </p:nvSpPr>
        <p:spPr>
          <a:xfrm>
            <a:off x="352612" y="442259"/>
            <a:ext cx="2390588" cy="369332"/>
          </a:xfrm>
          <a:prstGeom prst="rect">
            <a:avLst/>
          </a:prstGeom>
          <a:noFill/>
          <a:ln>
            <a:solidFill>
              <a:srgbClr val="C00000"/>
            </a:solidFill>
          </a:ln>
        </p:spPr>
        <p:txBody>
          <a:bodyPr wrap="square" rtlCol="0">
            <a:spAutoFit/>
          </a:bodyPr>
          <a:lstStyle/>
          <a:p>
            <a:endParaRPr lang="en-IN" dirty="0"/>
          </a:p>
        </p:txBody>
      </p:sp>
      <p:pic>
        <p:nvPicPr>
          <p:cNvPr id="2" name="Picture 2">
            <a:extLst>
              <a:ext uri="{FF2B5EF4-FFF2-40B4-BE49-F238E27FC236}">
                <a16:creationId xmlns:a16="http://schemas.microsoft.com/office/drawing/2014/main" id="{66E95D00-8C51-F033-B9F8-CD3C9BD7C30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5873" y="507862"/>
            <a:ext cx="1905000" cy="2381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204</TotalTime>
  <Words>1170</Words>
  <Application>Microsoft Office PowerPoint</Application>
  <PresentationFormat>Widescreen</PresentationFormat>
  <Paragraphs>238</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Calibri</vt:lpstr>
      <vt:lpstr>Calibri Light</vt:lpstr>
      <vt:lpstr>Times New Roman</vt:lpstr>
      <vt:lpstr>TimesNewRomanPS-BoldMT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Aswathy R K</dc:creator>
  <cp:lastModifiedBy>Sravani Sarisa</cp:lastModifiedBy>
  <cp:revision>14</cp:revision>
  <dcterms:created xsi:type="dcterms:W3CDTF">2023-12-26T18:43:00Z</dcterms:created>
  <dcterms:modified xsi:type="dcterms:W3CDTF">2025-12-10T08:34:10Z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547FC2DFB6584A41A648EB7DD89E001F_13</vt:lpwstr>
  </property>
  <property fmtid="{D5CDD505-2E9C-101B-9397-08002B2CF9AE}" pid="3" name="KSOProductBuildVer">
    <vt:lpwstr>1033-12.2.0.17153</vt:lpwstr>
  </property>
</Properties>
</file>